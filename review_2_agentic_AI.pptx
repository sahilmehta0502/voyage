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91" r:id="rId5"/>
    <p:sldId id="2147470494" r:id="rId6"/>
    <p:sldId id="2147470497" r:id="rId7"/>
    <p:sldId id="2147470519" r:id="rId8"/>
    <p:sldId id="2147470520" r:id="rId9"/>
    <p:sldId id="2147470522" r:id="rId10"/>
    <p:sldId id="2147470524" r:id="rId11"/>
    <p:sldId id="2147470504" r:id="rId12"/>
    <p:sldId id="2147470521" r:id="rId13"/>
    <p:sldId id="2147470498" r:id="rId14"/>
    <p:sldId id="2147470513" r:id="rId15"/>
    <p:sldId id="214747050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spTree>
    <p:extLst>
      <p:ext uri="{BB962C8B-B14F-4D97-AF65-F5344CB8AC3E}">
        <p14:creationId xmlns:p14="http://schemas.microsoft.com/office/powerpoint/2010/main" val="364773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a:t>Title Here</a:t>
            </a:r>
          </a:p>
        </p:txBody>
      </p:sp>
    </p:spTree>
    <p:extLst>
      <p:ext uri="{BB962C8B-B14F-4D97-AF65-F5344CB8AC3E}">
        <p14:creationId xmlns:p14="http://schemas.microsoft.com/office/powerpoint/2010/main" val="2443542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323556" y="465450"/>
            <a:ext cx="6910121" cy="1058125"/>
          </a:xfrm>
        </p:spPr>
        <p:txBody>
          <a:bodyPr/>
          <a:lstStyle/>
          <a:p>
            <a:pPr marL="0" indent="0" algn="ctr">
              <a:buNone/>
            </a:pPr>
            <a:r>
              <a:rPr lang="en-US" sz="4400">
                <a:solidFill>
                  <a:schemeClr val="bg1"/>
                </a:solidFill>
              </a:rPr>
              <a:t>M.Tech Program </a:t>
            </a:r>
          </a:p>
          <a:p>
            <a:pPr marL="0" indent="0" algn="ctr">
              <a:buNone/>
            </a:pPr>
            <a:r>
              <a:rPr lang="en-US" sz="200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811581" y="1534610"/>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262050" y="1673252"/>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64523" y="2805679"/>
            <a:ext cx="11428184" cy="4339650"/>
          </a:xfrm>
          <a:prstGeom prst="rect">
            <a:avLst/>
          </a:prstGeom>
          <a:noFill/>
        </p:spPr>
        <p:txBody>
          <a:bodyPr wrap="square">
            <a:spAutoFit/>
          </a:bodyPr>
          <a:lstStyle/>
          <a:p>
            <a:pPr lvl="0" algn="ctr">
              <a:defRPr/>
            </a:pPr>
            <a:r>
              <a:rPr lang="en-US" sz="2800" b="1" dirty="0">
                <a:solidFill>
                  <a:prstClr val="white"/>
                </a:solidFill>
                <a:cs typeface="Calibri" panose="020F0502020204030204" pitchFamily="34" charset="0"/>
              </a:rPr>
              <a:t>Agentic AI-Based Multi-Agent System for Automated Bus Scheduling, Crew Management, and Route Optimization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b="1" dirty="0">
              <a:solidFill>
                <a:prstClr val="white"/>
              </a:solidFill>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b="1" dirty="0">
              <a:solidFill>
                <a:prstClr val="white"/>
              </a:solidFill>
              <a:cs typeface="Calibri" panose="020F0502020204030204" pitchFamily="34" charset="0"/>
            </a:endParaRPr>
          </a:p>
          <a:p>
            <a:pPr lvl="0" algn="ctr">
              <a:defRPr/>
            </a:pPr>
            <a:r>
              <a:rPr kumimoji="0" lang="en-US" sz="2800" b="1" i="0" u="none" strike="noStrike" kern="1200" cap="none" spc="0" normalizeH="0" baseline="0" noProof="0" dirty="0">
                <a:ln>
                  <a:noFill/>
                </a:ln>
                <a:solidFill>
                  <a:prstClr val="white"/>
                </a:solidFill>
                <a:effectLst/>
                <a:uLnTx/>
                <a:uFillTx/>
                <a:ea typeface="+mn-ea"/>
                <a:cs typeface="Calibri" panose="020F0502020204030204" pitchFamily="34" charset="0"/>
              </a:rPr>
              <a:t>By</a:t>
            </a:r>
          </a:p>
          <a:p>
            <a:pPr lvl="0" algn="ctr">
              <a:defRPr/>
            </a:pPr>
            <a:r>
              <a:rPr lang="en-US" sz="2800" b="1" dirty="0">
                <a:solidFill>
                  <a:prstClr val="white"/>
                </a:solidFill>
                <a:cs typeface="Calibri" panose="020F0502020204030204" pitchFamily="34" charset="0"/>
              </a:rPr>
              <a:t>Sahil Mehta</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Frutiger 45 bold"/>
                          <a:cs typeface="Calibri" panose="020F0502020204030204" pitchFamily="34" charset="0"/>
                        </a:rPr>
                        <a:t>Knowledge partner</a:t>
                      </a:r>
                      <a:endParaRPr lang="en-US">
                        <a:solidFill>
                          <a:schemeClr val="bg1"/>
                        </a:solidFill>
                      </a:endParaRPr>
                    </a:p>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Frutiger 45 bold"/>
                          <a:cs typeface="Calibri" panose="020F0502020204030204" pitchFamily="34" charset="0"/>
                        </a:rPr>
                        <a:t>                                                                     Implementation partner</a:t>
                      </a:r>
                      <a:endParaRPr lang="en-US">
                        <a:solidFill>
                          <a:schemeClr val="bg1"/>
                        </a:solidFill>
                      </a:endParaRPr>
                    </a:p>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a:p>
                    <a:p>
                      <a:endParaRPr lang="en-US"/>
                    </a:p>
                    <a:p>
                      <a:endParaRPr lang="en-US"/>
                    </a:p>
                    <a:p>
                      <a:endParaRPr lang="en-US"/>
                    </a:p>
                    <a:p>
                      <a:endParaRPr lang="en-US"/>
                    </a:p>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500808"/>
            <a:ext cx="11631204" cy="4410135"/>
          </a:xfrm>
        </p:spPr>
        <p:txBody>
          <a:bodyPr/>
          <a:lstStyle/>
          <a:p>
            <a:pPr algn="just">
              <a:buFont typeface="Wingdings" panose="05000000000000000000" pitchFamily="2" charset="2"/>
              <a:buChar char="Ø"/>
            </a:pPr>
            <a:r>
              <a:rPr lang="en-US" b="0" dirty="0">
                <a:latin typeface="+mn-lt"/>
                <a:ea typeface="Calibri" panose="020F0502020204030204" pitchFamily="34" charset="0"/>
              </a:rPr>
              <a:t>Modern public transportation systems require efficient bus scheduling, crew management, and route planning to maintain reliable service. However, traditional systems rely on static schedules and manual planning, making them unable to quickly adapt to real-time disruptions such as traffic congestion, fluctuating passenger demand, vehicle breakdowns, and crew availability.</a:t>
            </a:r>
          </a:p>
          <a:p>
            <a:pPr algn="just">
              <a:buFont typeface="Wingdings" panose="05000000000000000000" pitchFamily="2" charset="2"/>
              <a:buChar char="Ø"/>
            </a:pPr>
            <a:r>
              <a:rPr lang="en-US" b="0" dirty="0">
                <a:latin typeface="+mn-lt"/>
                <a:ea typeface="Calibri" panose="020F0502020204030204" pitchFamily="34" charset="0"/>
              </a:rPr>
              <a:t>Poor coordination between scheduling, routing, and crew allocation often leads to delays, bus bunching, inefficient resource utilization, and increased operational costs. With growing urban populations and mobility demands, there is a need for an intelligent system that can dynamically optimize transit operations and improve service reliability.</a:t>
            </a: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a:solidFill>
                  <a:srgbClr val="5B9BD5">
                    <a:lumMod val="50000"/>
                  </a:srgbClr>
                </a:solidFill>
                <a:latin typeface="Calibri" panose="020F0502020204030204"/>
              </a:rPr>
              <a:t>Problem Statement</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413202" y="1474643"/>
            <a:ext cx="11571969" cy="4675786"/>
          </a:xfrm>
        </p:spPr>
        <p:txBody>
          <a:bodyPr/>
          <a:lstStyle/>
          <a:p>
            <a:pPr algn="just">
              <a:buFont typeface="Wingdings" panose="05000000000000000000" pitchFamily="2" charset="2"/>
              <a:buChar char="Ø"/>
            </a:pPr>
            <a:r>
              <a:rPr lang="en-US" dirty="0">
                <a:latin typeface="+mn-lt"/>
              </a:rPr>
              <a:t>Automated Bus Scheduling</a:t>
            </a:r>
            <a:r>
              <a:rPr lang="en-US" b="0" dirty="0">
                <a:latin typeface="+mn-lt"/>
              </a:rPr>
              <a:t>: Generate efficient bus schedules using intelligent agents to ensure timely and reliable public transport operations.</a:t>
            </a:r>
          </a:p>
          <a:p>
            <a:pPr algn="just">
              <a:buFont typeface="Wingdings" panose="05000000000000000000" pitchFamily="2" charset="2"/>
              <a:buChar char="Ø"/>
            </a:pPr>
            <a:r>
              <a:rPr lang="en-US" dirty="0">
                <a:latin typeface="+mn-lt"/>
              </a:rPr>
              <a:t>Optimized Route Planning:</a:t>
            </a:r>
            <a:r>
              <a:rPr lang="en-US" b="0" dirty="0">
                <a:latin typeface="+mn-lt"/>
              </a:rPr>
              <a:t> Analyze traffic patterns and demand data to design efficient routes and minimize travel time and congestion.</a:t>
            </a:r>
          </a:p>
          <a:p>
            <a:pPr algn="just">
              <a:buFont typeface="Wingdings" panose="05000000000000000000" pitchFamily="2" charset="2"/>
              <a:buChar char="Ø"/>
            </a:pPr>
            <a:r>
              <a:rPr lang="en-US" dirty="0">
                <a:latin typeface="+mn-lt"/>
              </a:rPr>
              <a:t>Crew Management</a:t>
            </a:r>
            <a:r>
              <a:rPr lang="en-US" b="0" dirty="0">
                <a:latin typeface="+mn-lt"/>
              </a:rPr>
              <a:t>: Allocate drivers and crew members while considering duty hours, rest periods, and labor regulations.</a:t>
            </a:r>
          </a:p>
          <a:p>
            <a:pPr algn="just">
              <a:buFont typeface="Wingdings" panose="05000000000000000000" pitchFamily="2" charset="2"/>
              <a:buChar char="Ø"/>
            </a:pPr>
            <a:r>
              <a:rPr lang="en-US" dirty="0">
                <a:latin typeface="+mn-lt"/>
              </a:rPr>
              <a:t>Real-Time Disruption Handling</a:t>
            </a:r>
            <a:r>
              <a:rPr lang="en-US" b="0" dirty="0">
                <a:latin typeface="+mn-lt"/>
              </a:rPr>
              <a:t>: Dynamically adjust schedules and routes in response to traffic congestion, vehicle breakdowns, or demand fluctuations.</a:t>
            </a:r>
          </a:p>
          <a:p>
            <a:pPr algn="just">
              <a:buFont typeface="Wingdings" panose="05000000000000000000" pitchFamily="2" charset="2"/>
              <a:buChar char="Ø"/>
            </a:pPr>
            <a:r>
              <a:rPr lang="en-US" dirty="0">
                <a:latin typeface="+mn-lt"/>
              </a:rPr>
              <a:t>Operational Efficiency Improvement</a:t>
            </a:r>
            <a:r>
              <a:rPr lang="en-US" b="0" dirty="0">
                <a:latin typeface="+mn-lt"/>
              </a:rPr>
              <a:t>: Enhance overall transport system performance by reducing operational costs, improving schedule reliability, and optimizing route coverage.</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2C5484B-BE5E-D837-1140-63D851461D14}"/>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5996" y="1271219"/>
            <a:ext cx="5837897" cy="4142989"/>
          </a:xfrm>
        </p:spPr>
        <p:txBody>
          <a:bodyPr/>
          <a:lstStyle/>
          <a:p>
            <a:pPr marL="0" indent="0" algn="just">
              <a:buNone/>
            </a:pPr>
            <a:r>
              <a:rPr lang="en-US" dirty="0">
                <a:latin typeface="+mn-lt"/>
              </a:rPr>
              <a:t>GTFS Data (BMTC / Transport Data)</a:t>
            </a:r>
          </a:p>
          <a:p>
            <a:pPr algn="just">
              <a:buFont typeface="Wingdings" panose="05000000000000000000" pitchFamily="2" charset="2"/>
              <a:buChar char="Ø"/>
            </a:pPr>
            <a:r>
              <a:rPr lang="en-US" b="0" dirty="0">
                <a:latin typeface="+mn-lt"/>
              </a:rPr>
              <a:t>Stops </a:t>
            </a:r>
          </a:p>
          <a:p>
            <a:pPr algn="just">
              <a:buFont typeface="Wingdings" panose="05000000000000000000" pitchFamily="2" charset="2"/>
              <a:buChar char="Ø"/>
            </a:pPr>
            <a:r>
              <a:rPr lang="en-US" b="0" dirty="0">
                <a:latin typeface="+mn-lt"/>
              </a:rPr>
              <a:t>Trips </a:t>
            </a:r>
          </a:p>
          <a:p>
            <a:pPr algn="just">
              <a:buFont typeface="Wingdings" panose="05000000000000000000" pitchFamily="2" charset="2"/>
              <a:buChar char="Ø"/>
            </a:pPr>
            <a:r>
              <a:rPr lang="en-US" b="0" dirty="0">
                <a:latin typeface="+mn-lt"/>
              </a:rPr>
              <a:t>Stop times</a:t>
            </a:r>
          </a:p>
          <a:p>
            <a:pPr marL="0" indent="0" algn="just">
              <a:buNone/>
            </a:pPr>
            <a:r>
              <a:rPr lang="fr-FR" dirty="0">
                <a:latin typeface="+mn-lt"/>
              </a:rPr>
              <a:t>Location Records</a:t>
            </a:r>
          </a:p>
          <a:p>
            <a:pPr algn="just">
              <a:buFont typeface="Wingdings" panose="05000000000000000000" pitchFamily="2" charset="2"/>
              <a:buChar char="Ø"/>
            </a:pPr>
            <a:r>
              <a:rPr lang="fr-FR" b="0" dirty="0">
                <a:latin typeface="+mn-lt"/>
              </a:rPr>
              <a:t>Latitude </a:t>
            </a:r>
          </a:p>
          <a:p>
            <a:pPr algn="just">
              <a:buFont typeface="Wingdings" panose="05000000000000000000" pitchFamily="2" charset="2"/>
              <a:buChar char="Ø"/>
            </a:pPr>
            <a:r>
              <a:rPr lang="fr-FR" b="0" dirty="0">
                <a:latin typeface="+mn-lt"/>
              </a:rPr>
              <a:t>Longitude </a:t>
            </a:r>
          </a:p>
          <a:p>
            <a:pPr algn="just">
              <a:buFont typeface="Wingdings" panose="05000000000000000000" pitchFamily="2" charset="2"/>
              <a:buChar char="Ø"/>
            </a:pPr>
            <a:r>
              <a:rPr lang="fr-FR" b="0" dirty="0">
                <a:latin typeface="+mn-lt"/>
              </a:rPr>
              <a:t>Timestamp</a:t>
            </a:r>
          </a:p>
          <a:p>
            <a:pPr algn="just">
              <a:buFont typeface="Wingdings" panose="05000000000000000000" pitchFamily="2" charset="2"/>
              <a:buChar char="Ø"/>
            </a:pPr>
            <a:endParaRPr lang="en-IN" b="0" u="sng" dirty="0">
              <a:latin typeface="+mn-lt"/>
            </a:endParaRPr>
          </a:p>
          <a:p>
            <a:pPr algn="just">
              <a:buFont typeface="Wingdings" panose="05000000000000000000" pitchFamily="2" charset="2"/>
              <a:buChar char="Ø"/>
            </a:pPr>
            <a:endParaRPr lang="en-IN" b="0" dirty="0">
              <a:latin typeface="+mn-lt"/>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Datasets used</a:t>
            </a: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A2AF5BB-C0B8-C3B1-7952-C6E39EB51369}"/>
              </a:ext>
            </a:extLst>
          </p:cNvPr>
          <p:cNvSpPr txBox="1"/>
          <p:nvPr/>
        </p:nvSpPr>
        <p:spPr>
          <a:xfrm>
            <a:off x="6607629" y="1480457"/>
            <a:ext cx="5127171" cy="1789208"/>
          </a:xfrm>
          <a:prstGeom prst="rect">
            <a:avLst/>
          </a:prstGeom>
          <a:noFill/>
        </p:spPr>
        <p:txBody>
          <a:bodyPr wrap="square" rtlCol="0">
            <a:spAutoFit/>
          </a:bodyPr>
          <a:lstStyle/>
          <a:p>
            <a:pPr algn="just">
              <a:lnSpc>
                <a:spcPct val="90000"/>
              </a:lnSpc>
              <a:spcBef>
                <a:spcPts val="1000"/>
              </a:spcBef>
            </a:pPr>
            <a:r>
              <a:rPr lang="en-US" sz="2800" b="1" dirty="0">
                <a:solidFill>
                  <a:srgbClr val="0070C0"/>
                </a:solidFill>
                <a:cs typeface="Calibri" panose="020F0502020204030204" pitchFamily="34" charset="0"/>
              </a:rPr>
              <a:t>Crew Dataset</a:t>
            </a:r>
          </a:p>
          <a:p>
            <a:pPr marL="457200" indent="-457200" algn="just">
              <a:lnSpc>
                <a:spcPct val="90000"/>
              </a:lnSpc>
              <a:spcBef>
                <a:spcPts val="1000"/>
              </a:spcBef>
              <a:buFont typeface="Wingdings" panose="05000000000000000000" pitchFamily="2" charset="2"/>
              <a:buChar char="Ø"/>
            </a:pPr>
            <a:r>
              <a:rPr lang="en-US" sz="2800" dirty="0">
                <a:solidFill>
                  <a:srgbClr val="0070C0"/>
                </a:solidFill>
                <a:cs typeface="Calibri" panose="020F0502020204030204" pitchFamily="34" charset="0"/>
              </a:rPr>
              <a:t>Availability </a:t>
            </a:r>
          </a:p>
          <a:p>
            <a:pPr marL="457200" indent="-457200" algn="just">
              <a:lnSpc>
                <a:spcPct val="90000"/>
              </a:lnSpc>
              <a:spcBef>
                <a:spcPts val="1000"/>
              </a:spcBef>
              <a:buFont typeface="Wingdings" panose="05000000000000000000" pitchFamily="2" charset="2"/>
              <a:buChar char="Ø"/>
            </a:pPr>
            <a:r>
              <a:rPr lang="en-US" sz="2800" dirty="0">
                <a:solidFill>
                  <a:srgbClr val="0070C0"/>
                </a:solidFill>
                <a:cs typeface="Calibri" panose="020F0502020204030204" pitchFamily="34" charset="0"/>
              </a:rPr>
              <a:t>Base locations</a:t>
            </a:r>
          </a:p>
          <a:p>
            <a:pPr algn="just"/>
            <a:endParaRPr lang="en-IN" dirty="0"/>
          </a:p>
        </p:txBody>
      </p:sp>
      <p:sp>
        <p:nvSpPr>
          <p:cNvPr id="4" name="TextBox 3">
            <a:extLst>
              <a:ext uri="{FF2B5EF4-FFF2-40B4-BE49-F238E27FC236}">
                <a16:creationId xmlns:a16="http://schemas.microsoft.com/office/drawing/2014/main" id="{9BE9895C-2E82-AE21-A6C2-51971C4AA7F0}"/>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118736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5" y="1271218"/>
            <a:ext cx="11736135" cy="4844765"/>
          </a:xfrm>
        </p:spPr>
        <p:txBody>
          <a:bodyPr/>
          <a:lstStyle/>
          <a:p>
            <a:pPr algn="just">
              <a:lnSpc>
                <a:spcPct val="100000"/>
              </a:lnSpc>
              <a:buFont typeface="Wingdings" panose="05000000000000000000" pitchFamily="2" charset="2"/>
              <a:buChar char="Ø"/>
            </a:pPr>
            <a:r>
              <a:rPr lang="en-US" sz="2700" dirty="0">
                <a:latin typeface="+mn-lt"/>
              </a:rPr>
              <a:t>Data Ingestion: </a:t>
            </a:r>
            <a:r>
              <a:rPr lang="en-US" sz="2700" b="0" dirty="0">
                <a:latin typeface="+mn-lt"/>
              </a:rPr>
              <a:t>GTFS static data (stops, trips, stop times) and real-time GPS feeds (latitude, longitude, timestamp) are collected and integrated into the system.</a:t>
            </a:r>
          </a:p>
          <a:p>
            <a:pPr algn="just">
              <a:lnSpc>
                <a:spcPct val="100000"/>
              </a:lnSpc>
              <a:buFont typeface="Wingdings" panose="05000000000000000000" pitchFamily="2" charset="2"/>
              <a:buChar char="Ø"/>
            </a:pPr>
            <a:r>
              <a:rPr lang="en-US" sz="2700" dirty="0">
                <a:latin typeface="+mn-lt"/>
              </a:rPr>
              <a:t>Trip Extraction</a:t>
            </a:r>
            <a:r>
              <a:rPr lang="en-US" sz="2700" b="0" dirty="0">
                <a:latin typeface="+mn-lt"/>
              </a:rPr>
              <a:t>: A </a:t>
            </a:r>
            <a:r>
              <a:rPr lang="en-US" sz="2700" b="0" dirty="0" err="1">
                <a:latin typeface="+mn-lt"/>
              </a:rPr>
              <a:t>LocationAgent</a:t>
            </a:r>
            <a:r>
              <a:rPr lang="en-US" sz="2700" b="0" dirty="0">
                <a:latin typeface="+mn-lt"/>
              </a:rPr>
              <a:t> processes GPS records to map vehicle movements and extract valid trips based on spatial-temporal patterns.</a:t>
            </a:r>
          </a:p>
          <a:p>
            <a:pPr algn="just">
              <a:lnSpc>
                <a:spcPct val="100000"/>
              </a:lnSpc>
              <a:buFont typeface="Wingdings" panose="05000000000000000000" pitchFamily="2" charset="2"/>
              <a:buChar char="Ø"/>
            </a:pPr>
            <a:r>
              <a:rPr lang="en-US" sz="2700" dirty="0">
                <a:latin typeface="+mn-lt"/>
              </a:rPr>
              <a:t>Scheduling:</a:t>
            </a:r>
            <a:r>
              <a:rPr lang="en-US" sz="2700" b="0" dirty="0">
                <a:latin typeface="+mn-lt"/>
              </a:rPr>
              <a:t> A </a:t>
            </a:r>
            <a:r>
              <a:rPr lang="en-US" sz="2700" b="0" dirty="0" err="1">
                <a:latin typeface="+mn-lt"/>
              </a:rPr>
              <a:t>SchedulingAgent</a:t>
            </a:r>
            <a:r>
              <a:rPr lang="en-US" sz="2700" b="0" dirty="0">
                <a:latin typeface="+mn-lt"/>
              </a:rPr>
              <a:t> analyzes trip frequency, travel time, and demand patterns to generate optimized timetables.</a:t>
            </a:r>
          </a:p>
          <a:p>
            <a:pPr algn="just">
              <a:lnSpc>
                <a:spcPct val="100000"/>
              </a:lnSpc>
              <a:buFont typeface="Wingdings" panose="05000000000000000000" pitchFamily="2" charset="2"/>
              <a:buChar char="Ø"/>
            </a:pPr>
            <a:r>
              <a:rPr lang="en-US" sz="2700" dirty="0">
                <a:latin typeface="+mn-lt"/>
              </a:rPr>
              <a:t>Crew Assignment</a:t>
            </a:r>
            <a:r>
              <a:rPr lang="en-US" sz="2700" b="0" dirty="0">
                <a:latin typeface="+mn-lt"/>
              </a:rPr>
              <a:t>: A </a:t>
            </a:r>
            <a:r>
              <a:rPr lang="en-US" sz="2700" b="0" dirty="0" err="1">
                <a:latin typeface="+mn-lt"/>
              </a:rPr>
              <a:t>CrewAgent</a:t>
            </a:r>
            <a:r>
              <a:rPr lang="en-US" sz="2700" b="0" dirty="0">
                <a:latin typeface="+mn-lt"/>
              </a:rPr>
              <a:t> assigns drivers and conductors based on availability, shift constraints, and base locations.</a:t>
            </a:r>
          </a:p>
          <a:p>
            <a:pPr algn="just">
              <a:lnSpc>
                <a:spcPct val="100000"/>
              </a:lnSpc>
              <a:buFont typeface="Wingdings" panose="05000000000000000000" pitchFamily="2" charset="2"/>
              <a:buChar char="Ø"/>
            </a:pPr>
            <a:r>
              <a:rPr lang="en-US" sz="2700" dirty="0">
                <a:latin typeface="+mn-lt"/>
              </a:rPr>
              <a:t>Dashboard &amp; API Output</a:t>
            </a:r>
            <a:r>
              <a:rPr lang="en-US" sz="2700" b="0" dirty="0">
                <a:latin typeface="+mn-lt"/>
              </a:rPr>
              <a:t>: Processed data is exposed via APIs and visualized through dashboards for monitoring routes, schedules, and operational efficiency.</a:t>
            </a:r>
          </a:p>
          <a:p>
            <a:pPr algn="just">
              <a:lnSpc>
                <a:spcPct val="100000"/>
              </a:lnSpc>
              <a:buFont typeface="Wingdings" panose="05000000000000000000" pitchFamily="2" charset="2"/>
              <a:buChar char="Ø"/>
            </a:pPr>
            <a:endParaRPr lang="en-US" sz="2700" b="0" dirty="0">
              <a:latin typeface="+mn-lt"/>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Methodology/Modeling Plan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D429ED2-0525-F98B-2D86-04A0DCCD9C9B}"/>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Initial Data (Crew)</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718AA862-26D2-5533-2701-ED8B1C91D0F6}"/>
              </a:ext>
            </a:extLst>
          </p:cNvPr>
          <p:cNvPicPr>
            <a:picLocks noChangeAspect="1"/>
          </p:cNvPicPr>
          <p:nvPr/>
        </p:nvPicPr>
        <p:blipFill>
          <a:blip r:embed="rId2"/>
          <a:stretch>
            <a:fillRect/>
          </a:stretch>
        </p:blipFill>
        <p:spPr>
          <a:xfrm>
            <a:off x="942901" y="1691315"/>
            <a:ext cx="4279521" cy="3686228"/>
          </a:xfrm>
          <a:prstGeom prst="rect">
            <a:avLst/>
          </a:prstGeom>
        </p:spPr>
      </p:pic>
      <p:pic>
        <p:nvPicPr>
          <p:cNvPr id="10" name="Picture 9">
            <a:extLst>
              <a:ext uri="{FF2B5EF4-FFF2-40B4-BE49-F238E27FC236}">
                <a16:creationId xmlns:a16="http://schemas.microsoft.com/office/drawing/2014/main" id="{22190276-9A6B-C8BE-CDE3-8089C67CBF0D}"/>
              </a:ext>
            </a:extLst>
          </p:cNvPr>
          <p:cNvPicPr>
            <a:picLocks noChangeAspect="1"/>
          </p:cNvPicPr>
          <p:nvPr/>
        </p:nvPicPr>
        <p:blipFill>
          <a:blip r:embed="rId3"/>
          <a:stretch>
            <a:fillRect/>
          </a:stretch>
        </p:blipFill>
        <p:spPr>
          <a:xfrm>
            <a:off x="6475564" y="1691315"/>
            <a:ext cx="4279521" cy="3610028"/>
          </a:xfrm>
          <a:prstGeom prst="rect">
            <a:avLst/>
          </a:prstGeom>
        </p:spPr>
      </p:pic>
      <p:sp>
        <p:nvSpPr>
          <p:cNvPr id="4" name="TextBox 3">
            <a:extLst>
              <a:ext uri="{FF2B5EF4-FFF2-40B4-BE49-F238E27FC236}">
                <a16:creationId xmlns:a16="http://schemas.microsoft.com/office/drawing/2014/main" id="{A4F6FC4D-A063-6D2C-E658-311961C94288}"/>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8BBA4-E0CF-6B3A-7CF1-2B3165CB25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9B3D40-8024-9177-0B30-63165FE328A5}"/>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Initial Data (location/trips)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89EFCD4-F89E-6505-B9C2-8D9B34443E9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093CF18-F3E1-E160-72F4-1796239DC2D8}"/>
              </a:ext>
            </a:extLst>
          </p:cNvPr>
          <p:cNvPicPr>
            <a:picLocks noChangeAspect="1"/>
          </p:cNvPicPr>
          <p:nvPr/>
        </p:nvPicPr>
        <p:blipFill>
          <a:blip r:embed="rId2"/>
          <a:stretch>
            <a:fillRect/>
          </a:stretch>
        </p:blipFill>
        <p:spPr>
          <a:xfrm>
            <a:off x="947057" y="1624123"/>
            <a:ext cx="10118334" cy="4502381"/>
          </a:xfrm>
          <a:prstGeom prst="rect">
            <a:avLst/>
          </a:prstGeom>
        </p:spPr>
      </p:pic>
      <p:sp>
        <p:nvSpPr>
          <p:cNvPr id="4" name="TextBox 3">
            <a:extLst>
              <a:ext uri="{FF2B5EF4-FFF2-40B4-BE49-F238E27FC236}">
                <a16:creationId xmlns:a16="http://schemas.microsoft.com/office/drawing/2014/main" id="{7EAF82B1-860D-600F-0772-1E35886B0612}"/>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298911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Implementation</a:t>
            </a: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33E7156-9B91-F8B9-E35B-23BB7995127C}"/>
              </a:ext>
            </a:extLst>
          </p:cNvPr>
          <p:cNvPicPr>
            <a:picLocks noChangeAspect="1"/>
          </p:cNvPicPr>
          <p:nvPr/>
        </p:nvPicPr>
        <p:blipFill>
          <a:blip r:embed="rId2"/>
          <a:stretch>
            <a:fillRect/>
          </a:stretch>
        </p:blipFill>
        <p:spPr>
          <a:xfrm>
            <a:off x="375143" y="1338778"/>
            <a:ext cx="6998060" cy="1943200"/>
          </a:xfrm>
          <a:prstGeom prst="rect">
            <a:avLst/>
          </a:prstGeom>
        </p:spPr>
      </p:pic>
      <p:pic>
        <p:nvPicPr>
          <p:cNvPr id="8" name="Picture 7">
            <a:extLst>
              <a:ext uri="{FF2B5EF4-FFF2-40B4-BE49-F238E27FC236}">
                <a16:creationId xmlns:a16="http://schemas.microsoft.com/office/drawing/2014/main" id="{7032565C-C8F9-33F6-F58C-F210978A4254}"/>
              </a:ext>
            </a:extLst>
          </p:cNvPr>
          <p:cNvPicPr>
            <a:picLocks noChangeAspect="1"/>
          </p:cNvPicPr>
          <p:nvPr/>
        </p:nvPicPr>
        <p:blipFill>
          <a:blip r:embed="rId3"/>
          <a:stretch>
            <a:fillRect/>
          </a:stretch>
        </p:blipFill>
        <p:spPr>
          <a:xfrm>
            <a:off x="5028638" y="3428999"/>
            <a:ext cx="6324925" cy="3073558"/>
          </a:xfrm>
          <a:prstGeom prst="rect">
            <a:avLst/>
          </a:prstGeom>
        </p:spPr>
      </p:pic>
      <p:sp>
        <p:nvSpPr>
          <p:cNvPr id="2" name="TextBox 1">
            <a:extLst>
              <a:ext uri="{FF2B5EF4-FFF2-40B4-BE49-F238E27FC236}">
                <a16:creationId xmlns:a16="http://schemas.microsoft.com/office/drawing/2014/main" id="{8226CE19-CDF6-4266-C915-07D8E895CA80}"/>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3688785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3313C-FF1E-0188-EC30-214E2EED6C8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76D452-F9D0-3A6D-1E3E-2A10A4A23873}"/>
              </a:ext>
            </a:extLst>
          </p:cNvPr>
          <p:cNvSpPr txBox="1"/>
          <p:nvPr/>
        </p:nvSpPr>
        <p:spPr>
          <a:xfrm>
            <a:off x="255996" y="502545"/>
            <a:ext cx="10624338" cy="646331"/>
          </a:xfrm>
          <a:prstGeom prst="rect">
            <a:avLst/>
          </a:prstGeom>
          <a:noFill/>
        </p:spPr>
        <p:txBody>
          <a:bodyPr wrap="square" rtlCol="0">
            <a:spAutoFit/>
          </a:bodyPr>
          <a:lstStyle/>
          <a:p>
            <a:pPr lvl="0">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Implementation</a:t>
            </a:r>
          </a:p>
        </p:txBody>
      </p:sp>
      <p:cxnSp>
        <p:nvCxnSpPr>
          <p:cNvPr id="5" name="Straight Connector 4">
            <a:extLst>
              <a:ext uri="{FF2B5EF4-FFF2-40B4-BE49-F238E27FC236}">
                <a16:creationId xmlns:a16="http://schemas.microsoft.com/office/drawing/2014/main" id="{438511E5-1124-0205-5F63-64814C6CFB2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B7B13C7-14BE-698B-4455-6B33A1E71489}"/>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7" name="Picture 6">
            <a:extLst>
              <a:ext uri="{FF2B5EF4-FFF2-40B4-BE49-F238E27FC236}">
                <a16:creationId xmlns:a16="http://schemas.microsoft.com/office/drawing/2014/main" id="{940BE456-E847-D3C3-ABB6-900C6D077A74}"/>
              </a:ext>
            </a:extLst>
          </p:cNvPr>
          <p:cNvPicPr>
            <a:picLocks noChangeAspect="1"/>
          </p:cNvPicPr>
          <p:nvPr/>
        </p:nvPicPr>
        <p:blipFill>
          <a:blip r:embed="rId2"/>
          <a:stretch>
            <a:fillRect/>
          </a:stretch>
        </p:blipFill>
        <p:spPr>
          <a:xfrm>
            <a:off x="1045029" y="1892220"/>
            <a:ext cx="9938657" cy="4214664"/>
          </a:xfrm>
          <a:prstGeom prst="rect">
            <a:avLst/>
          </a:prstGeom>
        </p:spPr>
      </p:pic>
    </p:spTree>
    <p:extLst>
      <p:ext uri="{BB962C8B-B14F-4D97-AF65-F5344CB8AC3E}">
        <p14:creationId xmlns:p14="http://schemas.microsoft.com/office/powerpoint/2010/main" val="5171152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2615D-8388-366F-6B9B-CB5A773D8D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59BBC3-B307-64BC-A57E-C218F76CC56A}"/>
              </a:ext>
            </a:extLst>
          </p:cNvPr>
          <p:cNvSpPr txBox="1"/>
          <p:nvPr/>
        </p:nvSpPr>
        <p:spPr>
          <a:xfrm>
            <a:off x="255996" y="502545"/>
            <a:ext cx="10624338" cy="646331"/>
          </a:xfrm>
          <a:prstGeom prst="rect">
            <a:avLst/>
          </a:prstGeom>
          <a:noFill/>
        </p:spPr>
        <p:txBody>
          <a:bodyPr wrap="square" rtlCol="0">
            <a:spAutoFit/>
          </a:bodyPr>
          <a:lstStyle/>
          <a:p>
            <a:pPr lvl="0">
              <a:defRPr/>
            </a:pPr>
            <a:r>
              <a:rPr kumimoji="0" lang="fr-FR" sz="3600" b="1" i="0" u="none" strike="noStrike" kern="1200" cap="none" spc="0" normalizeH="0" baseline="0" noProof="0" dirty="0" err="1">
                <a:ln>
                  <a:noFill/>
                </a:ln>
                <a:solidFill>
                  <a:srgbClr val="5B9BD5">
                    <a:lumMod val="50000"/>
                  </a:srgbClr>
                </a:solidFill>
                <a:effectLst/>
                <a:uLnTx/>
                <a:uFillTx/>
                <a:latin typeface="Calibri" panose="020F0502020204030204"/>
                <a:ea typeface="+mn-ea"/>
                <a:cs typeface="+mn-cs"/>
              </a:rPr>
              <a:t>Summary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CAB59EBC-2779-E96A-E216-4F90EDBFDFE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5C475A9-A708-2125-4BEB-36FD96E0E041}"/>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pic>
        <p:nvPicPr>
          <p:cNvPr id="7" name="Picture 6">
            <a:extLst>
              <a:ext uri="{FF2B5EF4-FFF2-40B4-BE49-F238E27FC236}">
                <a16:creationId xmlns:a16="http://schemas.microsoft.com/office/drawing/2014/main" id="{15451E42-2892-8863-9C8D-D7E133A38DD5}"/>
              </a:ext>
            </a:extLst>
          </p:cNvPr>
          <p:cNvPicPr>
            <a:picLocks noChangeAspect="1"/>
          </p:cNvPicPr>
          <p:nvPr/>
        </p:nvPicPr>
        <p:blipFill>
          <a:blip r:embed="rId2"/>
          <a:stretch>
            <a:fillRect/>
          </a:stretch>
        </p:blipFill>
        <p:spPr>
          <a:xfrm>
            <a:off x="370115" y="1835067"/>
            <a:ext cx="5203372" cy="3466271"/>
          </a:xfrm>
          <a:prstGeom prst="rect">
            <a:avLst/>
          </a:prstGeom>
        </p:spPr>
      </p:pic>
      <p:pic>
        <p:nvPicPr>
          <p:cNvPr id="9" name="Picture 8">
            <a:extLst>
              <a:ext uri="{FF2B5EF4-FFF2-40B4-BE49-F238E27FC236}">
                <a16:creationId xmlns:a16="http://schemas.microsoft.com/office/drawing/2014/main" id="{D77433AC-4634-CA16-6B30-7C59D3789DFE}"/>
              </a:ext>
            </a:extLst>
          </p:cNvPr>
          <p:cNvPicPr>
            <a:picLocks noChangeAspect="1"/>
          </p:cNvPicPr>
          <p:nvPr/>
        </p:nvPicPr>
        <p:blipFill>
          <a:blip r:embed="rId3"/>
          <a:stretch>
            <a:fillRect/>
          </a:stretch>
        </p:blipFill>
        <p:spPr>
          <a:xfrm>
            <a:off x="5889171" y="1741714"/>
            <a:ext cx="5366660" cy="3959189"/>
          </a:xfrm>
          <a:prstGeom prst="rect">
            <a:avLst/>
          </a:prstGeom>
        </p:spPr>
      </p:pic>
    </p:spTree>
    <p:extLst>
      <p:ext uri="{BB962C8B-B14F-4D97-AF65-F5344CB8AC3E}">
        <p14:creationId xmlns:p14="http://schemas.microsoft.com/office/powerpoint/2010/main" val="6518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240815" y="1609158"/>
            <a:ext cx="11706155" cy="4395022"/>
          </a:xfrm>
        </p:spPr>
        <p:txBody>
          <a:bodyPr/>
          <a:lstStyle/>
          <a:p>
            <a:pPr algn="just">
              <a:buFont typeface="Wingdings" panose="05000000000000000000" pitchFamily="2" charset="2"/>
              <a:buChar char="Ø"/>
            </a:pPr>
            <a:r>
              <a:rPr lang="en-US" dirty="0">
                <a:latin typeface="+mn-lt"/>
              </a:rPr>
              <a:t>Trip Extraction &amp; Processing</a:t>
            </a:r>
            <a:r>
              <a:rPr lang="en-US" b="0" dirty="0">
                <a:latin typeface="+mn-lt"/>
              </a:rPr>
              <a:t>: Extract trips from GPS/GTFS data using time-series grouping and sorting techniques.</a:t>
            </a:r>
          </a:p>
          <a:p>
            <a:pPr algn="just">
              <a:buFont typeface="Wingdings" panose="05000000000000000000" pitchFamily="2" charset="2"/>
              <a:buChar char="Ø"/>
            </a:pPr>
            <a:r>
              <a:rPr lang="en-US" dirty="0">
                <a:latin typeface="+mn-lt"/>
              </a:rPr>
              <a:t>AI-Based Scheduling Optimization:</a:t>
            </a:r>
            <a:r>
              <a:rPr lang="en-US" b="0" dirty="0">
                <a:latin typeface="+mn-lt"/>
              </a:rPr>
              <a:t> Generate optimized schedules using constraint-based logic (minimum trip duration, global time gaps, and route spacing).</a:t>
            </a:r>
          </a:p>
          <a:p>
            <a:pPr algn="just">
              <a:buFont typeface="Wingdings" panose="05000000000000000000" pitchFamily="2" charset="2"/>
              <a:buChar char="Ø"/>
            </a:pPr>
            <a:r>
              <a:rPr lang="en-US" dirty="0">
                <a:latin typeface="+mn-lt"/>
              </a:rPr>
              <a:t>Congestion Detection Algorithm:</a:t>
            </a:r>
            <a:r>
              <a:rPr lang="en-US" b="0" dirty="0">
                <a:latin typeface="+mn-lt"/>
              </a:rPr>
              <a:t> Identify traffic congestion by detecting low-speed segments (threshold-based filtering, e.g., &lt; 15 km/h).</a:t>
            </a:r>
          </a:p>
          <a:p>
            <a:pPr algn="just">
              <a:buFont typeface="Wingdings" panose="05000000000000000000" pitchFamily="2" charset="2"/>
              <a:buChar char="Ø"/>
            </a:pPr>
            <a:r>
              <a:rPr lang="en-US" dirty="0">
                <a:latin typeface="+mn-lt"/>
              </a:rPr>
              <a:t>Multi-Agent System Architecture</a:t>
            </a:r>
            <a:r>
              <a:rPr lang="en-US" b="0" dirty="0">
                <a:latin typeface="+mn-lt"/>
              </a:rPr>
              <a:t>: Use specialized agents (</a:t>
            </a:r>
            <a:r>
              <a:rPr lang="en-US" b="0" dirty="0" err="1">
                <a:latin typeface="+mn-lt"/>
              </a:rPr>
              <a:t>LocationAgent</a:t>
            </a:r>
            <a:r>
              <a:rPr lang="en-US" b="0" dirty="0">
                <a:latin typeface="+mn-lt"/>
              </a:rPr>
              <a:t>, </a:t>
            </a:r>
            <a:r>
              <a:rPr lang="en-US" b="0" dirty="0" err="1">
                <a:latin typeface="+mn-lt"/>
              </a:rPr>
              <a:t>RouteAgent</a:t>
            </a:r>
            <a:r>
              <a:rPr lang="en-US" b="0" dirty="0">
                <a:latin typeface="+mn-lt"/>
              </a:rPr>
              <a:t>, </a:t>
            </a:r>
            <a:r>
              <a:rPr lang="en-US" b="0" dirty="0" err="1">
                <a:latin typeface="+mn-lt"/>
              </a:rPr>
              <a:t>SchedulingAgent</a:t>
            </a:r>
            <a:r>
              <a:rPr lang="en-US" b="0" dirty="0">
                <a:latin typeface="+mn-lt"/>
              </a:rPr>
              <a:t>, </a:t>
            </a:r>
            <a:r>
              <a:rPr lang="en-US" b="0" dirty="0" err="1">
                <a:latin typeface="+mn-lt"/>
              </a:rPr>
              <a:t>CrewAgent</a:t>
            </a:r>
            <a:r>
              <a:rPr lang="en-US" b="0" dirty="0">
                <a:latin typeface="+mn-lt"/>
              </a:rPr>
              <a:t>) coordinated via a </a:t>
            </a:r>
            <a:r>
              <a:rPr lang="en-US" b="0" dirty="0" err="1">
                <a:latin typeface="+mn-lt"/>
              </a:rPr>
              <a:t>SupervisorAgent</a:t>
            </a:r>
            <a:r>
              <a:rPr lang="en-US" b="0" dirty="0">
                <a:latin typeface="+mn-lt"/>
              </a:rPr>
              <a:t> for modular processing.</a:t>
            </a:r>
          </a:p>
        </p:txBody>
      </p:sp>
      <p:sp>
        <p:nvSpPr>
          <p:cNvPr id="3" name="TextBox 2">
            <a:extLst>
              <a:ext uri="{FF2B5EF4-FFF2-40B4-BE49-F238E27FC236}">
                <a16:creationId xmlns:a16="http://schemas.microsoft.com/office/drawing/2014/main" id="{3D243BDD-B44E-04F0-FA93-336DD2FFA770}"/>
              </a:ext>
            </a:extLst>
          </p:cNvPr>
          <p:cNvSpPr txBox="1"/>
          <p:nvPr/>
        </p:nvSpPr>
        <p:spPr>
          <a:xfrm>
            <a:off x="221274" y="54542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3547FDF-0828-CA28-44F4-C62357A5A798}"/>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663367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8C0DB-E77A-ACE6-1ADB-76C6ADB3A6A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2826EF0-F3F3-B5D6-2268-A61C176DF10C}"/>
              </a:ext>
            </a:extLst>
          </p:cNvPr>
          <p:cNvSpPr>
            <a:spLocks noGrp="1"/>
          </p:cNvSpPr>
          <p:nvPr>
            <p:ph type="body" sz="quarter" idx="13"/>
          </p:nvPr>
        </p:nvSpPr>
        <p:spPr>
          <a:xfrm>
            <a:off x="255996" y="1594385"/>
            <a:ext cx="11706155" cy="4395022"/>
          </a:xfrm>
        </p:spPr>
        <p:txBody>
          <a:bodyPr/>
          <a:lstStyle/>
          <a:p>
            <a:pPr algn="just">
              <a:buFont typeface="Wingdings" panose="05000000000000000000" pitchFamily="2" charset="2"/>
              <a:buChar char="Ø"/>
            </a:pPr>
            <a:r>
              <a:rPr lang="en-US" sz="2600" dirty="0">
                <a:latin typeface="+mn-lt"/>
              </a:rPr>
              <a:t>Python &amp; VS Code</a:t>
            </a:r>
            <a:r>
              <a:rPr lang="en-US" sz="2600" b="0" dirty="0">
                <a:latin typeface="+mn-lt"/>
              </a:rPr>
              <a:t>: Core system development implemented in Python using VS Code as the primary IDE.</a:t>
            </a:r>
          </a:p>
          <a:p>
            <a:pPr algn="just">
              <a:buFont typeface="Wingdings" panose="05000000000000000000" pitchFamily="2" charset="2"/>
              <a:buChar char="Ø"/>
            </a:pPr>
            <a:r>
              <a:rPr lang="en-US" sz="2600" dirty="0">
                <a:latin typeface="+mn-lt"/>
              </a:rPr>
              <a:t>Pandas &amp; NumPy</a:t>
            </a:r>
            <a:r>
              <a:rPr lang="en-US" sz="2600" b="0" dirty="0">
                <a:latin typeface="+mn-lt"/>
              </a:rPr>
              <a:t>: Used for data preprocessing, transformation, and large-scale data handling</a:t>
            </a:r>
          </a:p>
          <a:p>
            <a:pPr algn="just">
              <a:buFont typeface="Wingdings" panose="05000000000000000000" pitchFamily="2" charset="2"/>
              <a:buChar char="Ø"/>
            </a:pPr>
            <a:r>
              <a:rPr lang="en-US" sz="2600" dirty="0">
                <a:latin typeface="+mn-lt"/>
              </a:rPr>
              <a:t>Flask API:</a:t>
            </a:r>
            <a:r>
              <a:rPr lang="en-US" sz="2600" b="0" dirty="0">
                <a:latin typeface="+mn-lt"/>
              </a:rPr>
              <a:t> Backend API for serving processed data (dashboard metrics and schedule output)</a:t>
            </a:r>
          </a:p>
          <a:p>
            <a:pPr algn="just">
              <a:buFont typeface="Wingdings" panose="05000000000000000000" pitchFamily="2" charset="2"/>
              <a:buChar char="Ø"/>
            </a:pPr>
            <a:r>
              <a:rPr lang="en-US" sz="2600" dirty="0">
                <a:latin typeface="+mn-lt"/>
              </a:rPr>
              <a:t>GTFS Data (General Transit Feed Specification)</a:t>
            </a:r>
            <a:r>
              <a:rPr lang="en-US" sz="2600" b="0" dirty="0">
                <a:latin typeface="+mn-lt"/>
              </a:rPr>
              <a:t>: Used for structured public transport data including stops, routes, and trip information.</a:t>
            </a:r>
          </a:p>
          <a:p>
            <a:pPr algn="just">
              <a:buFont typeface="Wingdings" panose="05000000000000000000" pitchFamily="2" charset="2"/>
              <a:buChar char="Ø"/>
            </a:pPr>
            <a:r>
              <a:rPr lang="en-US" sz="2600" dirty="0">
                <a:latin typeface="+mn-lt"/>
              </a:rPr>
              <a:t>Excel Reporting (Pandas): </a:t>
            </a:r>
            <a:r>
              <a:rPr lang="en-US" sz="2600" b="0" dirty="0">
                <a:latin typeface="+mn-lt"/>
              </a:rPr>
              <a:t>Export of schedule and congestion data into Excel for analysis and reporting</a:t>
            </a:r>
          </a:p>
          <a:p>
            <a:pPr algn="just">
              <a:buFont typeface="Wingdings" panose="05000000000000000000" pitchFamily="2" charset="2"/>
              <a:buChar char="Ø"/>
            </a:pPr>
            <a:endParaRPr lang="en-US" sz="2600" b="0" dirty="0">
              <a:latin typeface="+mn-lt"/>
            </a:endParaRPr>
          </a:p>
        </p:txBody>
      </p:sp>
      <p:sp>
        <p:nvSpPr>
          <p:cNvPr id="3" name="TextBox 2">
            <a:extLst>
              <a:ext uri="{FF2B5EF4-FFF2-40B4-BE49-F238E27FC236}">
                <a16:creationId xmlns:a16="http://schemas.microsoft.com/office/drawing/2014/main" id="{2A951948-6862-7DC2-473B-2CF8235FD9FB}"/>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3F2B0C7A-E006-91C9-7B6C-2507E955FE4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ADD824F-920E-AC46-57B9-B39E94C57C65}"/>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3136860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C9A65A60-76D3-D70D-DDBB-62FBB569FC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3886" y="1415143"/>
            <a:ext cx="10156370" cy="4713513"/>
          </a:xfrm>
          <a:prstGeom prst="rect">
            <a:avLst/>
          </a:prstGeom>
        </p:spPr>
      </p:pic>
      <p:sp>
        <p:nvSpPr>
          <p:cNvPr id="4" name="TextBox 3">
            <a:extLst>
              <a:ext uri="{FF2B5EF4-FFF2-40B4-BE49-F238E27FC236}">
                <a16:creationId xmlns:a16="http://schemas.microsoft.com/office/drawing/2014/main" id="{E4B785AE-4521-7F2D-2AC4-FFB3D46F5191}"/>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D18A51-3CCC-6A3F-1E70-26F9FD223B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487" y="849086"/>
            <a:ext cx="10189028" cy="5203371"/>
          </a:xfrm>
          <a:prstGeom prst="rect">
            <a:avLst/>
          </a:prstGeom>
        </p:spPr>
      </p:pic>
      <p:sp>
        <p:nvSpPr>
          <p:cNvPr id="2" name="TextBox 1">
            <a:extLst>
              <a:ext uri="{FF2B5EF4-FFF2-40B4-BE49-F238E27FC236}">
                <a16:creationId xmlns:a16="http://schemas.microsoft.com/office/drawing/2014/main" id="{A8B5AD92-D9CA-F4A5-0BF0-21BFD4BD32CA}"/>
              </a:ext>
            </a:extLst>
          </p:cNvPr>
          <p:cNvSpPr txBox="1"/>
          <p:nvPr/>
        </p:nvSpPr>
        <p:spPr>
          <a:xfrm>
            <a:off x="6093893" y="57036"/>
            <a:ext cx="6098107" cy="369332"/>
          </a:xfrm>
          <a:prstGeom prst="rect">
            <a:avLst/>
          </a:prstGeom>
          <a:noFill/>
        </p:spPr>
        <p:txBody>
          <a:bodyPr wrap="square" rtlCol="0">
            <a:spAutoFit/>
          </a:bodyPr>
          <a:lstStyle/>
          <a:p>
            <a:pPr lvl="0" algn="r">
              <a:defRPr/>
            </a:pPr>
            <a:r>
              <a:rPr lang="en-US" b="1" dirty="0">
                <a:solidFill>
                  <a:prstClr val="white"/>
                </a:solidFill>
                <a:cs typeface="Calibri" panose="020F0502020204030204" pitchFamily="34" charset="0"/>
              </a:rPr>
              <a:t>AI based Multi Agent System</a:t>
            </a:r>
          </a:p>
        </p:txBody>
      </p:sp>
    </p:spTree>
    <p:extLst>
      <p:ext uri="{BB962C8B-B14F-4D97-AF65-F5344CB8AC3E}">
        <p14:creationId xmlns:p14="http://schemas.microsoft.com/office/powerpoint/2010/main" val="2719674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F4487-DE40-FDB2-9257-B27DBE588942}"/>
              </a:ext>
            </a:extLst>
          </p:cNvPr>
          <p:cNvSpPr>
            <a:spLocks noGrp="1"/>
          </p:cNvSpPr>
          <p:nvPr>
            <p:ph type="title"/>
          </p:nvPr>
        </p:nvSpPr>
        <p:spPr>
          <a:xfrm>
            <a:off x="838200" y="2766218"/>
            <a:ext cx="10515600" cy="1325563"/>
          </a:xfrm>
        </p:spPr>
        <p:txBody>
          <a:bodyPr/>
          <a:lstStyle/>
          <a:p>
            <a:pPr algn="ctr"/>
            <a:r>
              <a:rPr lang="en-US">
                <a:solidFill>
                  <a:schemeClr val="accent1"/>
                </a:solidFill>
              </a:rPr>
              <a:t>Thank You</a:t>
            </a:r>
            <a:endParaRPr lang="en-IN">
              <a:solidFill>
                <a:schemeClr val="accent1"/>
              </a:solidFill>
            </a:endParaRPr>
          </a:p>
        </p:txBody>
      </p:sp>
    </p:spTree>
    <p:extLst>
      <p:ext uri="{BB962C8B-B14F-4D97-AF65-F5344CB8AC3E}">
        <p14:creationId xmlns:p14="http://schemas.microsoft.com/office/powerpoint/2010/main" val="1250597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7064</TotalTime>
  <Words>681</Words>
  <Application>Microsoft Office PowerPoint</Application>
  <PresentationFormat>Widescreen</PresentationFormat>
  <Paragraphs>72</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(Body)</vt:lpstr>
      <vt:lpstr>Calibri Light</vt:lpstr>
      <vt:lpstr>Frutiger 45 bold</vt:lpstr>
      <vt:lpstr>Frutiger LT Pro 45 Light</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sahil mehta</cp:lastModifiedBy>
  <cp:revision>123</cp:revision>
  <dcterms:created xsi:type="dcterms:W3CDTF">2024-05-13T10:33:11Z</dcterms:created>
  <dcterms:modified xsi:type="dcterms:W3CDTF">2026-04-06T11:15:51Z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