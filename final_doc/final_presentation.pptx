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0" r:id="rId3"/>
    <p:sldId id="2147470522" r:id="rId4"/>
    <p:sldId id="2147470493" r:id="rId5"/>
    <p:sldId id="2147470487" r:id="rId6"/>
    <p:sldId id="2147470492" r:id="rId7"/>
    <p:sldId id="2147470494" r:id="rId8"/>
    <p:sldId id="2147470504" r:id="rId9"/>
    <p:sldId id="2147470521" r:id="rId10"/>
    <p:sldId id="2147470523" r:id="rId11"/>
    <p:sldId id="2147470532" r:id="rId12"/>
    <p:sldId id="2147470534" r:id="rId13"/>
    <p:sldId id="2147470535" r:id="rId14"/>
    <p:sldId id="2147470536" r:id="rId15"/>
    <p:sldId id="2147470537" r:id="rId16"/>
    <p:sldId id="2147470538" r:id="rId17"/>
    <p:sldId id="2147470539" r:id="rId18"/>
    <p:sldId id="2147470540" r:id="rId19"/>
    <p:sldId id="2147470541" r:id="rId20"/>
    <p:sldId id="2147470542" r:id="rId21"/>
    <p:sldId id="2147470543" r:id="rId22"/>
    <p:sldId id="2147470544" r:id="rId23"/>
    <p:sldId id="2147470545" r:id="rId24"/>
    <p:sldId id="2147470546" r:id="rId25"/>
    <p:sldId id="2147470498" r:id="rId26"/>
    <p:sldId id="2147470533" r:id="rId27"/>
    <p:sldId id="2147470499" r:id="rId28"/>
    <p:sldId id="2147470502" r:id="rId29"/>
    <p:sldId id="2147470506" r:id="rId30"/>
    <p:sldId id="214747050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spTree>
    <p:extLst>
      <p:ext uri="{BB962C8B-B14F-4D97-AF65-F5344CB8AC3E}">
        <p14:creationId xmlns:p14="http://schemas.microsoft.com/office/powerpoint/2010/main" val="364773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spTree>
    <p:extLst>
      <p:ext uri="{BB962C8B-B14F-4D97-AF65-F5344CB8AC3E}">
        <p14:creationId xmlns:p14="http://schemas.microsoft.com/office/powerpoint/2010/main" val="2443542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sahilmehta0502/voyage" TargetMode="Externa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3">
            <a:extLst>
              <a:ext uri="{FF2B5EF4-FFF2-40B4-BE49-F238E27FC236}">
                <a16:creationId xmlns:a16="http://schemas.microsoft.com/office/drawing/2014/main" id="{99818C37-FE2F-92E5-BFC9-671F0D8DF3E5}"/>
              </a:ext>
            </a:extLst>
          </p:cNvPr>
          <p:cNvSpPr txBox="1">
            <a:spLocks noChangeArrowheads="1"/>
          </p:cNvSpPr>
          <p:nvPr/>
        </p:nvSpPr>
        <p:spPr bwMode="auto">
          <a:xfrm>
            <a:off x="2133600" y="457201"/>
            <a:ext cx="777240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800" b="1" dirty="0">
                <a:solidFill>
                  <a:srgbClr val="0070C0"/>
                </a:solidFill>
                <a:latin typeface="Times New Roman" panose="02020603050405020304" pitchFamily="18" charset="0"/>
                <a:cs typeface="Times New Roman" panose="02020603050405020304" pitchFamily="18" charset="0"/>
              </a:rPr>
              <a:t>Master of Technology</a:t>
            </a:r>
          </a:p>
          <a:p>
            <a:pPr algn="ctr" eaLnBrk="1" hangingPunct="1">
              <a:spcBef>
                <a:spcPct val="0"/>
              </a:spcBef>
              <a:buFontTx/>
              <a:buNone/>
            </a:pPr>
            <a:endParaRPr lang="en-US" altLang="en-US" sz="1800" b="1" dirty="0">
              <a:solidFill>
                <a:srgbClr val="0070C0"/>
              </a:solidFill>
              <a:latin typeface="Times New Roman" panose="02020603050405020304" pitchFamily="18" charset="0"/>
              <a:cs typeface="Times New Roman" panose="02020603050405020304" pitchFamily="18" charset="0"/>
            </a:endParaRPr>
          </a:p>
          <a:p>
            <a:pPr algn="ctr" eaLnBrk="1" hangingPunct="1">
              <a:spcBef>
                <a:spcPct val="0"/>
              </a:spcBef>
              <a:buFontTx/>
              <a:buNone/>
            </a:pPr>
            <a:r>
              <a:rPr lang="en-US" altLang="en-US" sz="1800" b="1" dirty="0">
                <a:solidFill>
                  <a:srgbClr val="0070C0"/>
                </a:solidFill>
                <a:latin typeface="Times New Roman" panose="02020603050405020304" pitchFamily="18" charset="0"/>
                <a:cs typeface="Times New Roman" panose="02020603050405020304" pitchFamily="18" charset="0"/>
              </a:rPr>
              <a:t>Research Project Presentation</a:t>
            </a:r>
          </a:p>
          <a:p>
            <a:pPr algn="ctr" eaLnBrk="1" hangingPunct="1">
              <a:spcBef>
                <a:spcPct val="0"/>
              </a:spcBef>
              <a:buFont typeface="Arial" panose="020B0604020202020204" pitchFamily="34" charset="0"/>
              <a:buNone/>
            </a:pPr>
            <a:endParaRPr lang="en-US" altLang="en-US" sz="1400" b="1" dirty="0">
              <a:solidFill>
                <a:srgbClr val="0070C0"/>
              </a:solidFill>
              <a:latin typeface="Times New Roman" panose="02020603050405020304" pitchFamily="18" charset="0"/>
              <a:cs typeface="Times New Roman" panose="02020603050405020304" pitchFamily="18" charset="0"/>
            </a:endParaRPr>
          </a:p>
          <a:p>
            <a:pPr algn="ctr" eaLnBrk="1" hangingPunct="1">
              <a:spcBef>
                <a:spcPct val="0"/>
              </a:spcBef>
              <a:buFont typeface="Arial" panose="020B0604020202020204" pitchFamily="34" charset="0"/>
              <a:buNone/>
            </a:pPr>
            <a:r>
              <a:rPr lang="en-US" altLang="en-US" sz="1400" b="1" dirty="0">
                <a:solidFill>
                  <a:srgbClr val="0070C0"/>
                </a:solidFill>
                <a:latin typeface="Times New Roman" panose="02020603050405020304" pitchFamily="18" charset="0"/>
                <a:cs typeface="Times New Roman" panose="02020603050405020304" pitchFamily="18" charset="0"/>
              </a:rPr>
              <a:t>Academic Year 2025-26</a:t>
            </a:r>
          </a:p>
          <a:p>
            <a:pPr algn="ctr" eaLnBrk="1" hangingPunct="1">
              <a:spcBef>
                <a:spcPct val="0"/>
              </a:spcBef>
              <a:buFont typeface="Arial" panose="020B0604020202020204" pitchFamily="34" charset="0"/>
              <a:buNone/>
            </a:pPr>
            <a:r>
              <a:rPr lang="en-US" altLang="en-US" sz="1400" b="1" dirty="0">
                <a:solidFill>
                  <a:srgbClr val="0070C0"/>
                </a:solidFill>
                <a:latin typeface="Times New Roman" panose="02020603050405020304" pitchFamily="18" charset="0"/>
                <a:cs typeface="Times New Roman" panose="02020603050405020304" pitchFamily="18" charset="0"/>
              </a:rPr>
              <a:t>Semester IV</a:t>
            </a:r>
          </a:p>
          <a:p>
            <a:pPr algn="ctr" eaLnBrk="1" hangingPunct="1">
              <a:spcBef>
                <a:spcPct val="0"/>
              </a:spcBef>
              <a:buFontTx/>
              <a:buNone/>
            </a:pPr>
            <a:endParaRPr lang="en-US" altLang="en-US" sz="1400" b="1" dirty="0">
              <a:solidFill>
                <a:srgbClr val="0070C0"/>
              </a:solidFill>
              <a:latin typeface="Times New Roman" panose="02020603050405020304" pitchFamily="18" charset="0"/>
              <a:cs typeface="Times New Roman" panose="02020603050405020304" pitchFamily="18" charset="0"/>
            </a:endParaRPr>
          </a:p>
          <a:p>
            <a:pPr algn="ctr" eaLnBrk="1" hangingPunct="1">
              <a:spcBef>
                <a:spcPct val="0"/>
              </a:spcBef>
              <a:buFontTx/>
              <a:buNone/>
            </a:pPr>
            <a:endParaRPr lang="en-US" altLang="en-US" sz="1800" b="1" dirty="0">
              <a:solidFill>
                <a:srgbClr val="0070C0"/>
              </a:solidFill>
            </a:endParaRPr>
          </a:p>
          <a:p>
            <a:pPr algn="ctr" eaLnBrk="1" hangingPunct="1">
              <a:spcBef>
                <a:spcPct val="0"/>
              </a:spcBef>
              <a:buFontTx/>
              <a:buNone/>
            </a:pPr>
            <a:r>
              <a:rPr lang="en-US" altLang="en-US" sz="1800" b="1" dirty="0">
                <a:solidFill>
                  <a:srgbClr val="0070C0"/>
                </a:solidFill>
              </a:rPr>
              <a:t> </a:t>
            </a:r>
          </a:p>
          <a:p>
            <a:pPr algn="ctr" eaLnBrk="1" hangingPunct="1">
              <a:spcBef>
                <a:spcPct val="0"/>
              </a:spcBef>
              <a:buFontTx/>
              <a:buNone/>
            </a:pPr>
            <a:r>
              <a:rPr lang="en-US" altLang="en-US" sz="1400" b="1" dirty="0">
                <a:solidFill>
                  <a:srgbClr val="0070C0"/>
                </a:solidFill>
              </a:rPr>
              <a:t> </a:t>
            </a:r>
          </a:p>
        </p:txBody>
      </p:sp>
      <p:pic>
        <p:nvPicPr>
          <p:cNvPr id="3075" name="Picture 4" descr="C:\Documents and Settings\sachin.arondekar\Desktop\NMIMSLogo.PNG">
            <a:extLst>
              <a:ext uri="{FF2B5EF4-FFF2-40B4-BE49-F238E27FC236}">
                <a16:creationId xmlns:a16="http://schemas.microsoft.com/office/drawing/2014/main" id="{D4DD573E-E906-9DF2-2A9A-5FD5CF152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2100" y="2730501"/>
            <a:ext cx="13716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5" descr="C:\Documents and Settings\sachin.arondekar\Desktop\NMIMSLogo.PNG">
            <a:extLst>
              <a:ext uri="{FF2B5EF4-FFF2-40B4-BE49-F238E27FC236}">
                <a16:creationId xmlns:a16="http://schemas.microsoft.com/office/drawing/2014/main" id="{6321433D-FA0F-ECF6-9CF5-C7F107F9E5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2100" y="2730501"/>
            <a:ext cx="13716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 Box 7">
            <a:extLst>
              <a:ext uri="{FF2B5EF4-FFF2-40B4-BE49-F238E27FC236}">
                <a16:creationId xmlns:a16="http://schemas.microsoft.com/office/drawing/2014/main" id="{9BF795D2-9562-8030-18D2-5D066D015788}"/>
              </a:ext>
            </a:extLst>
          </p:cNvPr>
          <p:cNvSpPr txBox="1">
            <a:spLocks noChangeArrowheads="1"/>
          </p:cNvSpPr>
          <p:nvPr/>
        </p:nvSpPr>
        <p:spPr bwMode="auto">
          <a:xfrm>
            <a:off x="3524250" y="4403726"/>
            <a:ext cx="4991100" cy="1952625"/>
          </a:xfrm>
          <a:prstGeom prst="rect">
            <a:avLst/>
          </a:prstGeom>
          <a:noFill/>
          <a:ln w="76200" cmpd="thickThin">
            <a:solidFill>
              <a:srgbClr val="622423"/>
            </a:solidFill>
            <a:miter lim="800000"/>
            <a:headEnd/>
            <a:tailEnd/>
          </a:ln>
          <a:extLst>
            <a:ext uri="{909E8E84-426E-40DD-AFC4-6F175D3DCCD1}">
              <a14:hiddenFill xmlns:a14="http://schemas.microsoft.com/office/drawing/2010/main">
                <a:solidFill>
                  <a:srgbClr val="FFFFFF"/>
                </a:solidFill>
              </a14:hiddenFill>
            </a:ext>
          </a:extLst>
        </p:spPr>
        <p:txBody>
          <a:bodyPr lIns="137160" tIns="91440" rIns="137160" bIns="9144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spcAft>
                <a:spcPts val="800"/>
              </a:spcAft>
              <a:buNone/>
            </a:pPr>
            <a:r>
              <a:rPr lang="en-IN" altLang="en-US" sz="1400" b="1">
                <a:solidFill>
                  <a:srgbClr val="0070C0"/>
                </a:solidFill>
              </a:rPr>
              <a:t>SVKM’s NMIMS</a:t>
            </a:r>
          </a:p>
          <a:p>
            <a:pPr algn="ctr">
              <a:spcBef>
                <a:spcPct val="0"/>
              </a:spcBef>
              <a:spcAft>
                <a:spcPts val="800"/>
              </a:spcAft>
              <a:buNone/>
            </a:pPr>
            <a:r>
              <a:rPr lang="en-IN" altLang="en-US" sz="1400" b="1">
                <a:solidFill>
                  <a:srgbClr val="0070C0"/>
                </a:solidFill>
              </a:rPr>
              <a:t>Mukesh Patel School of Technology Management and Engineering, Vile Parle, Mumbai- 400056</a:t>
            </a:r>
          </a:p>
          <a:p>
            <a:pPr algn="ctr">
              <a:spcBef>
                <a:spcPct val="0"/>
              </a:spcBef>
              <a:spcAft>
                <a:spcPts val="800"/>
              </a:spcAft>
              <a:buNone/>
            </a:pPr>
            <a:endParaRPr lang="en-IN" altLang="en-US" sz="1400" b="1">
              <a:solidFill>
                <a:srgbClr val="0070C0"/>
              </a:solidFill>
            </a:endParaRPr>
          </a:p>
          <a:p>
            <a:pPr algn="ctr">
              <a:spcBef>
                <a:spcPct val="0"/>
              </a:spcBef>
              <a:spcAft>
                <a:spcPts val="800"/>
              </a:spcAft>
              <a:buNone/>
            </a:pPr>
            <a:r>
              <a:rPr lang="en-IN" altLang="en-US" sz="1400" b="1">
                <a:solidFill>
                  <a:srgbClr val="0070C0"/>
                </a:solidFill>
              </a:rPr>
              <a:t>Department of Data Science</a:t>
            </a:r>
            <a:endParaRPr lang="en-IN" altLang="en-US" sz="1400" b="1">
              <a:solidFill>
                <a:srgbClr val="0070C0"/>
              </a:solidFill>
              <a:latin typeface="Times New Roman" panose="02020603050405020304" pitchFamily="18" charset="0"/>
            </a:endParaRPr>
          </a:p>
          <a:p>
            <a:pPr algn="ctr">
              <a:spcBef>
                <a:spcPct val="0"/>
              </a:spcBef>
              <a:buFontTx/>
              <a:buNone/>
            </a:pPr>
            <a:endParaRPr lang="en-US" altLang="en-US" sz="1800">
              <a:solidFill>
                <a:srgbClr val="0070C0"/>
              </a:solidFill>
            </a:endParaRPr>
          </a:p>
        </p:txBody>
      </p:sp>
      <p:sp>
        <p:nvSpPr>
          <p:cNvPr id="2" name="Date Placeholder 1">
            <a:extLst>
              <a:ext uri="{FF2B5EF4-FFF2-40B4-BE49-F238E27FC236}">
                <a16:creationId xmlns:a16="http://schemas.microsoft.com/office/drawing/2014/main" id="{E0CBD679-9F7F-9BB2-BBE2-840960F44FA5}"/>
              </a:ext>
            </a:extLst>
          </p:cNvPr>
          <p:cNvSpPr>
            <a:spLocks noGrp="1"/>
          </p:cNvSpPr>
          <p:nvPr>
            <p:ph type="dt" sz="quarter" idx="10"/>
          </p:nvPr>
        </p:nvSpPr>
        <p:spPr>
          <a:xfrm>
            <a:off x="457200" y="6356350"/>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fld id="{D2EEA3DD-A22F-4620-B8F3-C68B885E29A2}" type="datetime1">
              <a:rPr lang="en-US" smtClean="0">
                <a:solidFill>
                  <a:srgbClr val="0070C0"/>
                </a:solidFill>
              </a:rPr>
              <a:pPr>
                <a:defRPr/>
              </a:pPr>
              <a:t>5/5/2026</a:t>
            </a:fld>
            <a:endParaRPr lang="en-US" dirty="0">
              <a:solidFill>
                <a:srgbClr val="0070C0"/>
              </a:solidFill>
            </a:endParaRPr>
          </a:p>
        </p:txBody>
      </p:sp>
      <p:sp>
        <p:nvSpPr>
          <p:cNvPr id="3079" name="Slide Number Placeholder 2">
            <a:extLst>
              <a:ext uri="{FF2B5EF4-FFF2-40B4-BE49-F238E27FC236}">
                <a16:creationId xmlns:a16="http://schemas.microsoft.com/office/drawing/2014/main" id="{DC442A52-91DE-7B6F-4C4C-E627FF2D43C8}"/>
              </a:ext>
            </a:extLst>
          </p:cNvPr>
          <p:cNvSpPr>
            <a:spLocks noGrp="1" noChangeArrowheads="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a:solidFill>
                  <a:srgbClr val="898989"/>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spcBef>
                <a:spcPct val="0"/>
              </a:spcBef>
              <a:buFontTx/>
              <a:buNone/>
            </a:pPr>
            <a:fld id="{F7DB1EC3-81E9-4663-B8C4-ABDBF06B5735}" type="slidenum">
              <a:rPr lang="en-US" altLang="en-US" smtClean="0">
                <a:solidFill>
                  <a:srgbClr val="0070C0"/>
                </a:solidFill>
              </a:rPr>
              <a:pPr>
                <a:spcBef>
                  <a:spcPct val="0"/>
                </a:spcBef>
                <a:buFontTx/>
                <a:buNone/>
              </a:pPr>
              <a:t>1</a:t>
            </a:fld>
            <a:endParaRPr lang="en-US" altLang="en-US" sz="1200">
              <a:solidFill>
                <a:srgbClr val="0070C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Box 1">
            <a:extLst>
              <a:ext uri="{FF2B5EF4-FFF2-40B4-BE49-F238E27FC236}">
                <a16:creationId xmlns:a16="http://schemas.microsoft.com/office/drawing/2014/main" id="{8A84BED9-36F6-D75D-4FA5-A8848E8635E6}"/>
              </a:ext>
            </a:extLst>
          </p:cNvPr>
          <p:cNvSpPr txBox="1">
            <a:spLocks noChangeArrowheads="1"/>
          </p:cNvSpPr>
          <p:nvPr/>
        </p:nvSpPr>
        <p:spPr bwMode="auto">
          <a:xfrm>
            <a:off x="457201" y="685800"/>
            <a:ext cx="11070770" cy="586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800" b="1" dirty="0">
                <a:solidFill>
                  <a:srgbClr val="0070C0"/>
                </a:solidFill>
              </a:rPr>
              <a:t>A  PRESENTATION  ON </a:t>
            </a:r>
          </a:p>
          <a:p>
            <a:pPr lvl="0" algn="ctr">
              <a:buNone/>
              <a:defRPr/>
            </a:pPr>
            <a:r>
              <a:rPr lang="en-US" altLang="en-US" sz="2800" b="1" dirty="0">
                <a:solidFill>
                  <a:srgbClr val="0070C0"/>
                </a:solidFill>
              </a:rPr>
              <a:t>“</a:t>
            </a:r>
            <a:r>
              <a:rPr lang="en-US" sz="2800" b="1" dirty="0" err="1">
                <a:solidFill>
                  <a:srgbClr val="0070C0"/>
                </a:solidFill>
              </a:rPr>
              <a:t>VoyageAI</a:t>
            </a:r>
            <a:r>
              <a:rPr lang="en-US" sz="2800" b="1" dirty="0">
                <a:solidFill>
                  <a:srgbClr val="0070C0"/>
                </a:solidFill>
              </a:rPr>
              <a:t>: Agentic AI-Based Multi-Agent System for</a:t>
            </a:r>
          </a:p>
          <a:p>
            <a:pPr algn="ctr">
              <a:buNone/>
              <a:defRPr/>
            </a:pPr>
            <a:r>
              <a:rPr lang="en-US" sz="2800" b="1" dirty="0">
                <a:solidFill>
                  <a:srgbClr val="0070C0"/>
                </a:solidFill>
              </a:rPr>
              <a:t>Intercity Bus Management, Booking &amp; Operations</a:t>
            </a:r>
            <a:r>
              <a:rPr lang="en-US" altLang="en-US" sz="2800" b="1" dirty="0">
                <a:solidFill>
                  <a:srgbClr val="0070C0"/>
                </a:solidFill>
              </a:rPr>
              <a:t>”</a:t>
            </a:r>
          </a:p>
          <a:p>
            <a:pPr algn="ctr" eaLnBrk="1" hangingPunct="1">
              <a:spcBef>
                <a:spcPct val="0"/>
              </a:spcBef>
              <a:buFontTx/>
              <a:buNone/>
            </a:pPr>
            <a:endParaRPr lang="en-US" altLang="en-US" sz="2800" b="1" dirty="0">
              <a:solidFill>
                <a:srgbClr val="0070C0"/>
              </a:solidFill>
            </a:endParaRPr>
          </a:p>
          <a:p>
            <a:pPr algn="ctr" eaLnBrk="1" hangingPunct="1">
              <a:spcBef>
                <a:spcPct val="0"/>
              </a:spcBef>
              <a:buFontTx/>
              <a:buNone/>
            </a:pPr>
            <a:r>
              <a:rPr lang="en-US" altLang="en-US" sz="2800" b="1" dirty="0">
                <a:solidFill>
                  <a:srgbClr val="0070C0"/>
                </a:solidFill>
              </a:rPr>
              <a:t>By</a:t>
            </a:r>
          </a:p>
          <a:p>
            <a:pPr algn="ctr" eaLnBrk="1" hangingPunct="1">
              <a:spcBef>
                <a:spcPct val="0"/>
              </a:spcBef>
              <a:buFontTx/>
              <a:buNone/>
            </a:pPr>
            <a:r>
              <a:rPr lang="en-US" altLang="en-US" sz="2800" b="1" dirty="0">
                <a:solidFill>
                  <a:srgbClr val="0070C0"/>
                </a:solidFill>
              </a:rPr>
              <a:t> Sahil Mehta,R012, 70282400013</a:t>
            </a:r>
          </a:p>
          <a:p>
            <a:pPr algn="ctr" eaLnBrk="1" hangingPunct="1">
              <a:spcBef>
                <a:spcPct val="0"/>
              </a:spcBef>
              <a:buFontTx/>
              <a:buNone/>
            </a:pPr>
            <a:endParaRPr lang="en-US" altLang="en-US" sz="2800" b="1" dirty="0">
              <a:solidFill>
                <a:srgbClr val="0070C0"/>
              </a:solidFill>
            </a:endParaRPr>
          </a:p>
          <a:p>
            <a:pPr algn="ctr" eaLnBrk="1" hangingPunct="1">
              <a:spcBef>
                <a:spcPct val="0"/>
              </a:spcBef>
              <a:buFontTx/>
              <a:buNone/>
            </a:pPr>
            <a:r>
              <a:rPr lang="en-US" altLang="en-US" sz="2800" b="1" dirty="0">
                <a:solidFill>
                  <a:srgbClr val="0070C0"/>
                </a:solidFill>
              </a:rPr>
              <a:t>  Under the </a:t>
            </a:r>
            <a:r>
              <a:rPr lang="en-US" altLang="en-US" sz="2800" b="1">
                <a:solidFill>
                  <a:srgbClr val="0070C0"/>
                </a:solidFill>
              </a:rPr>
              <a:t>guidance of</a:t>
            </a:r>
            <a:endParaRPr lang="en-US" altLang="en-US" sz="2800" b="1" dirty="0">
              <a:solidFill>
                <a:srgbClr val="0070C0"/>
              </a:solidFill>
            </a:endParaRPr>
          </a:p>
          <a:p>
            <a:pPr algn="ctr" eaLnBrk="1" hangingPunct="1">
              <a:spcBef>
                <a:spcPct val="0"/>
              </a:spcBef>
              <a:buFontTx/>
              <a:buNone/>
            </a:pPr>
            <a:r>
              <a:rPr lang="en-US" altLang="en-US" sz="2800" b="1" dirty="0">
                <a:solidFill>
                  <a:srgbClr val="0070C0"/>
                </a:solidFill>
              </a:rPr>
              <a:t>Industry MENTOR NAME</a:t>
            </a:r>
          </a:p>
          <a:p>
            <a:pPr algn="ctr" eaLnBrk="1" hangingPunct="1">
              <a:spcBef>
                <a:spcPct val="0"/>
              </a:spcBef>
              <a:buFontTx/>
              <a:buNone/>
            </a:pPr>
            <a:r>
              <a:rPr lang="en-US" altLang="en-US" sz="2800" b="1" dirty="0">
                <a:solidFill>
                  <a:srgbClr val="0070C0"/>
                </a:solidFill>
              </a:rPr>
              <a:t>Iftekar Patel </a:t>
            </a:r>
          </a:p>
          <a:p>
            <a:pPr algn="ctr" eaLnBrk="1" hangingPunct="1">
              <a:spcBef>
                <a:spcPct val="0"/>
              </a:spcBef>
              <a:buFontTx/>
              <a:buNone/>
            </a:pPr>
            <a:endParaRPr lang="en-US" altLang="en-US" sz="2800" b="1" dirty="0">
              <a:solidFill>
                <a:srgbClr val="0070C0"/>
              </a:solidFill>
            </a:endParaRPr>
          </a:p>
          <a:p>
            <a:pPr algn="ctr" eaLnBrk="1" hangingPunct="1">
              <a:spcBef>
                <a:spcPct val="0"/>
              </a:spcBef>
              <a:buFontTx/>
              <a:buNone/>
            </a:pPr>
            <a:r>
              <a:rPr lang="en-US" altLang="en-US" sz="2800" b="1" dirty="0">
                <a:solidFill>
                  <a:srgbClr val="0070C0"/>
                </a:solidFill>
              </a:rPr>
              <a:t> Internal MENTOR NAME</a:t>
            </a:r>
          </a:p>
          <a:p>
            <a:pPr algn="ctr" eaLnBrk="1" hangingPunct="1">
              <a:spcBef>
                <a:spcPct val="0"/>
              </a:spcBef>
              <a:buFontTx/>
              <a:buNone/>
            </a:pPr>
            <a:r>
              <a:rPr lang="en-US" altLang="en-US" sz="2800" b="1" dirty="0">
                <a:solidFill>
                  <a:srgbClr val="0070C0"/>
                </a:solidFill>
              </a:rPr>
              <a:t>Dr. </a:t>
            </a:r>
            <a:r>
              <a:rPr lang="en-US" altLang="en-US" sz="2800" b="1" dirty="0" err="1">
                <a:solidFill>
                  <a:srgbClr val="0070C0"/>
                </a:solidFill>
              </a:rPr>
              <a:t>ManishKumar</a:t>
            </a:r>
            <a:r>
              <a:rPr lang="en-US" altLang="en-US" sz="2800" b="1" dirty="0">
                <a:solidFill>
                  <a:srgbClr val="0070C0"/>
                </a:solidFill>
              </a:rPr>
              <a:t> Tiwari</a:t>
            </a:r>
          </a:p>
        </p:txBody>
      </p:sp>
      <p:sp>
        <p:nvSpPr>
          <p:cNvPr id="2" name="Date Placeholder 1">
            <a:extLst>
              <a:ext uri="{FF2B5EF4-FFF2-40B4-BE49-F238E27FC236}">
                <a16:creationId xmlns:a16="http://schemas.microsoft.com/office/drawing/2014/main" id="{17938901-E3C5-216D-9F4E-9C76E317E24E}"/>
              </a:ext>
            </a:extLst>
          </p:cNvPr>
          <p:cNvSpPr>
            <a:spLocks noGrp="1"/>
          </p:cNvSpPr>
          <p:nvPr>
            <p:ph type="dt" sz="quarter" idx="10"/>
          </p:nvPr>
        </p:nvSpPr>
        <p:spPr>
          <a:xfrm>
            <a:off x="457200" y="6356350"/>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fld id="{D2EEA3DD-A22F-4620-B8F3-C68B885E29A2}" type="datetime1">
              <a:rPr lang="en-US" smtClean="0"/>
              <a:pPr>
                <a:defRPr/>
              </a:pPr>
              <a:t>5/5/2026</a:t>
            </a:fld>
            <a:endParaRPr lang="en-US" dirty="0"/>
          </a:p>
        </p:txBody>
      </p:sp>
      <p:sp>
        <p:nvSpPr>
          <p:cNvPr id="4100" name="Slide Number Placeholder 2">
            <a:extLst>
              <a:ext uri="{FF2B5EF4-FFF2-40B4-BE49-F238E27FC236}">
                <a16:creationId xmlns:a16="http://schemas.microsoft.com/office/drawing/2014/main" id="{26A7F293-1591-7752-6F55-D715599B3AD4}"/>
              </a:ext>
            </a:extLst>
          </p:cNvPr>
          <p:cNvSpPr>
            <a:spLocks noGrp="1" noChangeArrowheads="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a:solidFill>
                  <a:srgbClr val="898989"/>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spcBef>
                <a:spcPct val="0"/>
              </a:spcBef>
              <a:buFontTx/>
              <a:buNone/>
            </a:pPr>
            <a:fld id="{F7DB1EC3-81E9-4663-B8C4-ABDBF06B5735}" type="slidenum">
              <a:rPr lang="en-US" altLang="en-US" smtClean="0"/>
              <a:pPr/>
              <a:t>2</a:t>
            </a:fld>
            <a:endParaRPr lang="en-US" altLang="en-US"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459689"/>
            <a:ext cx="11467918" cy="4835665"/>
          </a:xfrm>
        </p:spPr>
        <p:txBody>
          <a:bodyPr/>
          <a:lstStyle/>
          <a:p>
            <a:pPr algn="just">
              <a:lnSpc>
                <a:spcPct val="100000"/>
              </a:lnSpc>
              <a:buFont typeface="Wingdings" panose="05000000000000000000" pitchFamily="2" charset="2"/>
              <a:buChar char="Ø"/>
            </a:pPr>
            <a:r>
              <a:rPr lang="en-US" sz="2300" b="0" dirty="0">
                <a:solidFill>
                  <a:schemeClr val="accent1"/>
                </a:solidFill>
                <a:latin typeface="+mn-lt"/>
              </a:rPr>
              <a:t>Public transport systems face challenges in scheduling and resource management.</a:t>
            </a:r>
          </a:p>
          <a:p>
            <a:pPr algn="just">
              <a:lnSpc>
                <a:spcPct val="100000"/>
              </a:lnSpc>
              <a:buFont typeface="Wingdings" panose="05000000000000000000" pitchFamily="2" charset="2"/>
              <a:buChar char="Ø"/>
            </a:pPr>
            <a:r>
              <a:rPr lang="en-US" sz="2300" b="0" dirty="0">
                <a:solidFill>
                  <a:schemeClr val="accent1"/>
                </a:solidFill>
                <a:latin typeface="+mn-lt"/>
              </a:rPr>
              <a:t>Manual processes are inefficient and error-prone </a:t>
            </a:r>
            <a:r>
              <a:rPr lang="en-US" sz="2300" b="0" dirty="0">
                <a:solidFill>
                  <a:schemeClr val="accent1"/>
                </a:solidFill>
                <a:latin typeface="+mn-lt"/>
                <a:ea typeface="Calibri" pitchFamily="34" charset="-122"/>
                <a:cs typeface="Calibri" pitchFamily="34" charset="-120"/>
              </a:rPr>
              <a:t>and unable to scale with growing travel demand.</a:t>
            </a:r>
            <a:endParaRPr lang="en-US" sz="2300" b="0" dirty="0">
              <a:solidFill>
                <a:schemeClr val="accent1"/>
              </a:solidFill>
              <a:latin typeface="+mn-lt"/>
            </a:endParaRPr>
          </a:p>
          <a:p>
            <a:pPr algn="just">
              <a:lnSpc>
                <a:spcPct val="100000"/>
              </a:lnSpc>
              <a:buFont typeface="Wingdings" panose="05000000000000000000" pitchFamily="2" charset="2"/>
              <a:buChar char="Ø"/>
            </a:pPr>
            <a:r>
              <a:rPr lang="en-US" sz="2300" b="0" dirty="0">
                <a:solidFill>
                  <a:schemeClr val="accent1"/>
                </a:solidFill>
                <a:latin typeface="+mn-lt"/>
              </a:rPr>
              <a:t>Need for automation and real-time analytics </a:t>
            </a:r>
            <a:r>
              <a:rPr lang="en-US" sz="2300" b="0" dirty="0">
                <a:solidFill>
                  <a:schemeClr val="accent1"/>
                </a:solidFill>
                <a:latin typeface="+mn-lt"/>
                <a:ea typeface="Calibri" pitchFamily="34" charset="-122"/>
                <a:cs typeface="Calibri" pitchFamily="34" charset="-120"/>
              </a:rPr>
              <a:t>and unable to scale with growing travel demand.</a:t>
            </a:r>
            <a:endParaRPr lang="en-US" sz="2300" b="0" dirty="0">
              <a:solidFill>
                <a:schemeClr val="accent1"/>
              </a:solidFill>
              <a:latin typeface="+mn-lt"/>
            </a:endParaRPr>
          </a:p>
          <a:p>
            <a:pPr marL="0" indent="0" algn="just">
              <a:lnSpc>
                <a:spcPct val="100000"/>
              </a:lnSpc>
              <a:buNone/>
            </a:pPr>
            <a:r>
              <a:rPr lang="en-US" sz="2300" dirty="0">
                <a:solidFill>
                  <a:schemeClr val="accent1"/>
                </a:solidFill>
                <a:latin typeface="+mn-lt"/>
              </a:rPr>
              <a:t>Proposed an AI-based system for:</a:t>
            </a:r>
          </a:p>
          <a:p>
            <a:pPr algn="just">
              <a:lnSpc>
                <a:spcPct val="100000"/>
              </a:lnSpc>
              <a:buFont typeface="Wingdings" panose="05000000000000000000" pitchFamily="2" charset="2"/>
              <a:buChar char="Ø"/>
            </a:pPr>
            <a:r>
              <a:rPr lang="en-IN" sz="2300" dirty="0">
                <a:solidFill>
                  <a:schemeClr val="accent1"/>
                </a:solidFill>
                <a:latin typeface="+mn-lt"/>
              </a:rPr>
              <a:t>Scheduling optimization </a:t>
            </a:r>
            <a:r>
              <a:rPr lang="en-IN" sz="2300" b="0" dirty="0">
                <a:solidFill>
                  <a:schemeClr val="accent1"/>
                </a:solidFill>
                <a:latin typeface="+mn-lt"/>
              </a:rPr>
              <a:t>: </a:t>
            </a:r>
            <a:r>
              <a:rPr lang="en-US" sz="2300" b="0" dirty="0">
                <a:solidFill>
                  <a:schemeClr val="accent1"/>
                </a:solidFill>
                <a:latin typeface="+mn-lt"/>
                <a:ea typeface="Calibri" pitchFamily="34" charset="-122"/>
                <a:cs typeface="Calibri" pitchFamily="34" charset="-120"/>
              </a:rPr>
              <a:t>enforce 5-hour route gap, 500 km minimum, 8+ stops per route</a:t>
            </a:r>
            <a:endParaRPr lang="en-IN" sz="2300" b="0" dirty="0">
              <a:solidFill>
                <a:schemeClr val="accent1"/>
              </a:solidFill>
              <a:latin typeface="+mn-lt"/>
            </a:endParaRPr>
          </a:p>
          <a:p>
            <a:pPr algn="just">
              <a:lnSpc>
                <a:spcPct val="100000"/>
              </a:lnSpc>
              <a:buFont typeface="Wingdings" panose="05000000000000000000" pitchFamily="2" charset="2"/>
              <a:buChar char="Ø"/>
            </a:pPr>
            <a:r>
              <a:rPr lang="en-IN" sz="2300" dirty="0">
                <a:solidFill>
                  <a:schemeClr val="accent1"/>
                </a:solidFill>
                <a:latin typeface="+mn-lt"/>
              </a:rPr>
              <a:t>Crew assignment </a:t>
            </a:r>
            <a:r>
              <a:rPr lang="en-IN" sz="2300" b="0" dirty="0">
                <a:solidFill>
                  <a:schemeClr val="accent1"/>
                </a:solidFill>
                <a:latin typeface="+mn-lt"/>
              </a:rPr>
              <a:t>: </a:t>
            </a:r>
            <a:r>
              <a:rPr lang="en-US" sz="2300" b="0" dirty="0">
                <a:solidFill>
                  <a:schemeClr val="accent1"/>
                </a:solidFill>
                <a:latin typeface="+mn-lt"/>
                <a:ea typeface="Calibri" pitchFamily="34" charset="-122"/>
                <a:cs typeface="Calibri" pitchFamily="34" charset="-120"/>
              </a:rPr>
              <a:t>enforce 5-hour route gap, 500 km minimum, 8+ stops per route</a:t>
            </a:r>
            <a:endParaRPr lang="en-IN" sz="2300" b="0" dirty="0">
              <a:solidFill>
                <a:schemeClr val="accent1"/>
              </a:solidFill>
              <a:latin typeface="+mn-lt"/>
            </a:endParaRPr>
          </a:p>
          <a:p>
            <a:pPr algn="just">
              <a:lnSpc>
                <a:spcPct val="100000"/>
              </a:lnSpc>
              <a:buFont typeface="Wingdings" panose="05000000000000000000" pitchFamily="2" charset="2"/>
              <a:buChar char="Ø"/>
            </a:pPr>
            <a:r>
              <a:rPr lang="en-IN" sz="2300" dirty="0">
                <a:solidFill>
                  <a:schemeClr val="accent1"/>
                </a:solidFill>
                <a:latin typeface="+mn-lt"/>
              </a:rPr>
              <a:t>Congestion/load detection </a:t>
            </a:r>
            <a:r>
              <a:rPr lang="en-IN" sz="2300" b="0" dirty="0">
                <a:solidFill>
                  <a:schemeClr val="accent1"/>
                </a:solidFill>
                <a:latin typeface="+mn-lt"/>
              </a:rPr>
              <a:t>: </a:t>
            </a:r>
            <a:r>
              <a:rPr lang="en-US" sz="2300" b="0" dirty="0">
                <a:solidFill>
                  <a:schemeClr val="accent1"/>
                </a:solidFill>
                <a:latin typeface="+mn-lt"/>
                <a:ea typeface="Calibri" pitchFamily="34" charset="-122"/>
                <a:cs typeface="Calibri" pitchFamily="34" charset="-120"/>
              </a:rPr>
              <a:t>flag trips with load factor &gt;90% for operator attention</a:t>
            </a:r>
            <a:endParaRPr lang="en-IN" sz="2300" b="0" dirty="0">
              <a:solidFill>
                <a:schemeClr val="accent1"/>
              </a:solidFill>
              <a:latin typeface="+mn-lt"/>
            </a:endParaRPr>
          </a:p>
          <a:p>
            <a:pPr algn="just">
              <a:lnSpc>
                <a:spcPct val="100000"/>
              </a:lnSpc>
              <a:buFont typeface="Wingdings" panose="05000000000000000000" pitchFamily="2" charset="2"/>
              <a:buChar char="Ø"/>
            </a:pPr>
            <a:r>
              <a:rPr lang="en-IN" sz="2300" dirty="0">
                <a:solidFill>
                  <a:schemeClr val="accent1"/>
                </a:solidFill>
                <a:latin typeface="+mn-lt"/>
              </a:rPr>
              <a:t>Dashboard-based monitoring</a:t>
            </a:r>
            <a:r>
              <a:rPr lang="en-IN" sz="2300" b="0" dirty="0">
                <a:solidFill>
                  <a:schemeClr val="accent1"/>
                </a:solidFill>
                <a:latin typeface="+mn-lt"/>
              </a:rPr>
              <a:t> : </a:t>
            </a:r>
            <a:r>
              <a:rPr lang="en-US" sz="2300" b="0" dirty="0">
                <a:solidFill>
                  <a:schemeClr val="accent1"/>
                </a:solidFill>
                <a:latin typeface="+mn-lt"/>
                <a:ea typeface="Calibri" pitchFamily="34" charset="-122"/>
                <a:cs typeface="Calibri" pitchFamily="34" charset="-120"/>
              </a:rPr>
              <a:t>live KPIs across fleet, revenue, crew, and passenger metrics</a:t>
            </a:r>
            <a:endParaRPr lang="en-US" sz="2300" b="0" dirty="0">
              <a:solidFill>
                <a:schemeClr val="accent1"/>
              </a:solidFill>
              <a:latin typeface="+mn-lt"/>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9E4B789-3341-648D-C640-5B50028634A2}"/>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327869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413202" y="1474643"/>
            <a:ext cx="11267169" cy="4436299"/>
          </a:xfrm>
        </p:spPr>
        <p:txBody>
          <a:bodyPr/>
          <a:lstStyle/>
          <a:p>
            <a:pPr algn="just">
              <a:buFont typeface="Wingdings" panose="05000000000000000000" pitchFamily="2" charset="2"/>
              <a:buChar char="Ø"/>
            </a:pPr>
            <a:r>
              <a:rPr lang="en-US" sz="2400" dirty="0">
                <a:latin typeface="+mn-lt"/>
              </a:rPr>
              <a:t>Automated Bus Scheduling</a:t>
            </a:r>
            <a:r>
              <a:rPr lang="en-US" sz="2400" b="0" dirty="0">
                <a:latin typeface="+mn-lt"/>
              </a:rPr>
              <a:t>: Generate efficient bus schedules using intelligent agents to ensure timely and reliable public transport operations.</a:t>
            </a:r>
          </a:p>
          <a:p>
            <a:pPr algn="just">
              <a:buFont typeface="Wingdings" panose="05000000000000000000" pitchFamily="2" charset="2"/>
              <a:buChar char="Ø"/>
            </a:pPr>
            <a:r>
              <a:rPr lang="en-US" sz="2400" dirty="0">
                <a:latin typeface="+mn-lt"/>
              </a:rPr>
              <a:t>Optimized Route Planning:</a:t>
            </a:r>
            <a:r>
              <a:rPr lang="en-US" sz="2400" b="0" dirty="0">
                <a:latin typeface="+mn-lt"/>
              </a:rPr>
              <a:t> Analyze traffic patterns and demand data to design efficient routes and minimize travel time and congestion.</a:t>
            </a:r>
          </a:p>
          <a:p>
            <a:pPr algn="just">
              <a:buFont typeface="Wingdings" panose="05000000000000000000" pitchFamily="2" charset="2"/>
              <a:buChar char="Ø"/>
            </a:pPr>
            <a:r>
              <a:rPr lang="en-US" sz="2400" dirty="0">
                <a:latin typeface="+mn-lt"/>
              </a:rPr>
              <a:t>Crew Management</a:t>
            </a:r>
            <a:r>
              <a:rPr lang="en-US" sz="2400" b="0" dirty="0">
                <a:latin typeface="+mn-lt"/>
              </a:rPr>
              <a:t>: Allocate drivers and crew members while considering duty hours, rest periods, and labor regulations.</a:t>
            </a:r>
          </a:p>
          <a:p>
            <a:pPr algn="just">
              <a:buFont typeface="Wingdings" panose="05000000000000000000" pitchFamily="2" charset="2"/>
              <a:buChar char="Ø"/>
            </a:pPr>
            <a:r>
              <a:rPr lang="en-US" sz="2400" dirty="0">
                <a:latin typeface="+mn-lt"/>
              </a:rPr>
              <a:t>Real-Time Disruption Handling</a:t>
            </a:r>
            <a:r>
              <a:rPr lang="en-US" sz="2400" b="0" dirty="0">
                <a:latin typeface="+mn-lt"/>
              </a:rPr>
              <a:t>: Dynamically adjust schedules and routes in response to traffic congestion, vehicle breakdowns, or demand fluctuations.</a:t>
            </a:r>
          </a:p>
          <a:p>
            <a:pPr algn="just">
              <a:buFont typeface="Wingdings" panose="05000000000000000000" pitchFamily="2" charset="2"/>
              <a:buChar char="Ø"/>
            </a:pPr>
            <a:r>
              <a:rPr lang="en-US" sz="2400" dirty="0">
                <a:latin typeface="+mn-lt"/>
              </a:rPr>
              <a:t>Operational Efficiency Improvement</a:t>
            </a:r>
            <a:r>
              <a:rPr lang="en-US" sz="2400" b="0" dirty="0">
                <a:latin typeface="+mn-lt"/>
              </a:rPr>
              <a:t>: Enhance overall transport system performance by reducing operational costs, improving schedule reliability, and optimizing route coverage.</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2C5484B-BE5E-D837-1140-63D851461D14}"/>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5996" y="1369190"/>
            <a:ext cx="11729175" cy="4781235"/>
          </a:xfrm>
        </p:spPr>
        <p:txBody>
          <a:bodyPr/>
          <a:lstStyle/>
          <a:p>
            <a:pPr algn="just">
              <a:buFont typeface="Wingdings" panose="05000000000000000000" pitchFamily="2" charset="2"/>
              <a:buChar char="Ø"/>
            </a:pPr>
            <a:r>
              <a:rPr lang="en-IN" sz="2100" dirty="0">
                <a:solidFill>
                  <a:schemeClr val="accent1"/>
                </a:solidFill>
                <a:latin typeface="+mn-lt"/>
              </a:rPr>
              <a:t>Data Ingestion (GTFS + GPS + Crew Data) </a:t>
            </a:r>
            <a:r>
              <a:rPr lang="en-IN" sz="2100" b="0" dirty="0">
                <a:solidFill>
                  <a:schemeClr val="accent1"/>
                </a:solidFill>
                <a:latin typeface="+mn-lt"/>
              </a:rPr>
              <a:t>: </a:t>
            </a:r>
            <a:r>
              <a:rPr lang="en-US" sz="2100" b="0" dirty="0">
                <a:solidFill>
                  <a:schemeClr val="accent1"/>
                </a:solidFill>
                <a:latin typeface="+mn-lt"/>
                <a:ea typeface="Calibri" pitchFamily="34" charset="-122"/>
                <a:cs typeface="Calibri" pitchFamily="34" charset="-120"/>
              </a:rPr>
              <a:t>seed_data.py loads buses, routes, stops, crew, passengers</a:t>
            </a:r>
            <a:endParaRPr lang="en-IN" sz="2100" b="0" dirty="0">
              <a:solidFill>
                <a:schemeClr val="accent1"/>
              </a:solidFill>
              <a:latin typeface="+mn-lt"/>
            </a:endParaRPr>
          </a:p>
          <a:p>
            <a:pPr algn="just">
              <a:buFont typeface="Wingdings" panose="05000000000000000000" pitchFamily="2" charset="2"/>
              <a:buChar char="Ø"/>
            </a:pPr>
            <a:r>
              <a:rPr lang="en-IN" sz="2100" dirty="0">
                <a:solidFill>
                  <a:schemeClr val="accent1"/>
                </a:solidFill>
                <a:latin typeface="+mn-lt"/>
              </a:rPr>
              <a:t>Location Processing (Trip Extraction)</a:t>
            </a:r>
            <a:r>
              <a:rPr lang="en-IN" sz="2100" b="0" dirty="0">
                <a:solidFill>
                  <a:schemeClr val="accent1"/>
                </a:solidFill>
                <a:latin typeface="+mn-lt"/>
              </a:rPr>
              <a:t> : </a:t>
            </a:r>
            <a:r>
              <a:rPr lang="en-US" sz="2100" b="0" dirty="0">
                <a:solidFill>
                  <a:schemeClr val="accent1"/>
                </a:solidFill>
                <a:latin typeface="+mn-lt"/>
                <a:ea typeface="Calibri" pitchFamily="34" charset="-122"/>
                <a:cs typeface="Calibri" pitchFamily="34" charset="-120"/>
              </a:rPr>
              <a:t>stop </a:t>
            </a:r>
            <a:r>
              <a:rPr lang="en-US" sz="2100" b="0" dirty="0" err="1">
                <a:solidFill>
                  <a:schemeClr val="accent1"/>
                </a:solidFill>
                <a:latin typeface="+mn-lt"/>
                <a:ea typeface="Calibri" pitchFamily="34" charset="-122"/>
                <a:cs typeface="Calibri" pitchFamily="34" charset="-120"/>
              </a:rPr>
              <a:t>lat</a:t>
            </a:r>
            <a:r>
              <a:rPr lang="en-US" sz="2100" b="0" dirty="0">
                <a:solidFill>
                  <a:schemeClr val="accent1"/>
                </a:solidFill>
                <a:latin typeface="+mn-lt"/>
                <a:ea typeface="Calibri" pitchFamily="34" charset="-122"/>
                <a:cs typeface="Calibri" pitchFamily="34" charset="-120"/>
              </a:rPr>
              <a:t>/</a:t>
            </a:r>
            <a:r>
              <a:rPr lang="en-US" sz="2100" b="0" dirty="0" err="1">
                <a:solidFill>
                  <a:schemeClr val="accent1"/>
                </a:solidFill>
                <a:latin typeface="+mn-lt"/>
                <a:ea typeface="Calibri" pitchFamily="34" charset="-122"/>
                <a:cs typeface="Calibri" pitchFamily="34" charset="-120"/>
              </a:rPr>
              <a:t>lng</a:t>
            </a:r>
            <a:r>
              <a:rPr lang="en-US" sz="2100" b="0" dirty="0">
                <a:solidFill>
                  <a:schemeClr val="accent1"/>
                </a:solidFill>
                <a:latin typeface="+mn-lt"/>
                <a:ea typeface="Calibri" pitchFamily="34" charset="-122"/>
                <a:cs typeface="Calibri" pitchFamily="34" charset="-120"/>
              </a:rPr>
              <a:t> exposed via /</a:t>
            </a:r>
            <a:r>
              <a:rPr lang="en-US" sz="2100" b="0" dirty="0" err="1">
                <a:solidFill>
                  <a:schemeClr val="accent1"/>
                </a:solidFill>
                <a:latin typeface="+mn-lt"/>
                <a:ea typeface="Calibri" pitchFamily="34" charset="-122"/>
                <a:cs typeface="Calibri" pitchFamily="34" charset="-120"/>
              </a:rPr>
              <a:t>api</a:t>
            </a:r>
            <a:r>
              <a:rPr lang="en-US" sz="2100" b="0" dirty="0">
                <a:solidFill>
                  <a:schemeClr val="accent1"/>
                </a:solidFill>
                <a:latin typeface="+mn-lt"/>
                <a:ea typeface="Calibri" pitchFamily="34" charset="-122"/>
                <a:cs typeface="Calibri" pitchFamily="34" charset="-120"/>
              </a:rPr>
              <a:t>/stops for Leaflet map rendering</a:t>
            </a:r>
            <a:endParaRPr lang="en-IN" sz="2100" b="0" dirty="0">
              <a:solidFill>
                <a:schemeClr val="accent1"/>
              </a:solidFill>
              <a:latin typeface="+mn-lt"/>
            </a:endParaRPr>
          </a:p>
          <a:p>
            <a:pPr algn="just">
              <a:buFont typeface="Wingdings" panose="05000000000000000000" pitchFamily="2" charset="2"/>
              <a:buChar char="Ø"/>
            </a:pPr>
            <a:r>
              <a:rPr lang="en-US" sz="2100" dirty="0">
                <a:solidFill>
                  <a:schemeClr val="accent1"/>
                </a:solidFill>
                <a:latin typeface="+mn-lt"/>
              </a:rPr>
              <a:t>Route Analytics (Distance, Speed, Congestion) </a:t>
            </a:r>
            <a:r>
              <a:rPr lang="en-US" sz="2100" b="0" dirty="0">
                <a:solidFill>
                  <a:schemeClr val="accent1"/>
                </a:solidFill>
                <a:latin typeface="+mn-lt"/>
              </a:rPr>
              <a:t>: </a:t>
            </a:r>
            <a:r>
              <a:rPr lang="en-US" sz="2100" b="0" dirty="0" err="1">
                <a:solidFill>
                  <a:schemeClr val="accent1"/>
                </a:solidFill>
                <a:latin typeface="+mn-lt"/>
                <a:ea typeface="Calibri" pitchFamily="34" charset="-122"/>
                <a:cs typeface="Calibri" pitchFamily="34" charset="-120"/>
              </a:rPr>
              <a:t>RouteAgent</a:t>
            </a:r>
            <a:r>
              <a:rPr lang="en-US" sz="2100" b="0" dirty="0">
                <a:solidFill>
                  <a:schemeClr val="accent1"/>
                </a:solidFill>
                <a:latin typeface="+mn-lt"/>
                <a:ea typeface="Calibri" pitchFamily="34" charset="-122"/>
                <a:cs typeface="Calibri" pitchFamily="34" charset="-120"/>
              </a:rPr>
              <a:t> validates distance, computes fares, checks gaps</a:t>
            </a:r>
            <a:endParaRPr lang="en-US" sz="2100" b="0" dirty="0">
              <a:solidFill>
                <a:schemeClr val="accent1"/>
              </a:solidFill>
              <a:latin typeface="+mn-lt"/>
            </a:endParaRPr>
          </a:p>
          <a:p>
            <a:pPr algn="just">
              <a:buFont typeface="Wingdings" panose="05000000000000000000" pitchFamily="2" charset="2"/>
              <a:buChar char="Ø"/>
            </a:pPr>
            <a:r>
              <a:rPr lang="en-IN" sz="2100" dirty="0">
                <a:solidFill>
                  <a:schemeClr val="accent1"/>
                </a:solidFill>
                <a:latin typeface="+mn-lt"/>
              </a:rPr>
              <a:t>Scheduling Optimization </a:t>
            </a:r>
            <a:r>
              <a:rPr lang="en-IN" sz="2100" b="0" dirty="0">
                <a:solidFill>
                  <a:schemeClr val="accent1"/>
                </a:solidFill>
                <a:latin typeface="+mn-lt"/>
              </a:rPr>
              <a:t>: </a:t>
            </a:r>
            <a:r>
              <a:rPr lang="en-US" sz="2100" b="0" dirty="0" err="1">
                <a:solidFill>
                  <a:schemeClr val="accent1"/>
                </a:solidFill>
                <a:latin typeface="+mn-lt"/>
                <a:ea typeface="Calibri" pitchFamily="34" charset="-122"/>
                <a:cs typeface="Calibri" pitchFamily="34" charset="-120"/>
              </a:rPr>
              <a:t>SchedulingAgent</a:t>
            </a:r>
            <a:r>
              <a:rPr lang="en-US" sz="2100" b="0" dirty="0">
                <a:solidFill>
                  <a:schemeClr val="accent1"/>
                </a:solidFill>
                <a:latin typeface="+mn-lt"/>
                <a:ea typeface="Calibri" pitchFamily="34" charset="-122"/>
                <a:cs typeface="Calibri" pitchFamily="34" charset="-120"/>
              </a:rPr>
              <a:t> enforces 5-hr gap rule and creates valid trip records</a:t>
            </a:r>
            <a:endParaRPr lang="en-IN" sz="2100" b="0" dirty="0">
              <a:solidFill>
                <a:schemeClr val="accent1"/>
              </a:solidFill>
              <a:latin typeface="+mn-lt"/>
            </a:endParaRPr>
          </a:p>
          <a:p>
            <a:pPr algn="just">
              <a:buFont typeface="Wingdings" panose="05000000000000000000" pitchFamily="2" charset="2"/>
              <a:buChar char="Ø"/>
            </a:pPr>
            <a:r>
              <a:rPr lang="en-IN" sz="2100" dirty="0">
                <a:solidFill>
                  <a:schemeClr val="accent1"/>
                </a:solidFill>
                <a:latin typeface="+mn-lt"/>
              </a:rPr>
              <a:t>Crew Assignment </a:t>
            </a:r>
            <a:r>
              <a:rPr lang="en-IN" sz="2100" b="0" dirty="0">
                <a:solidFill>
                  <a:schemeClr val="accent1"/>
                </a:solidFill>
                <a:latin typeface="+mn-lt"/>
              </a:rPr>
              <a:t>: </a:t>
            </a:r>
            <a:r>
              <a:rPr lang="en-US" sz="2100" b="0" dirty="0" err="1">
                <a:solidFill>
                  <a:schemeClr val="accent1"/>
                </a:solidFill>
                <a:latin typeface="+mn-lt"/>
                <a:ea typeface="Calibri" pitchFamily="34" charset="-122"/>
                <a:cs typeface="Calibri" pitchFamily="34" charset="-120"/>
              </a:rPr>
              <a:t>CrewAgent</a:t>
            </a:r>
            <a:r>
              <a:rPr lang="en-US" sz="2100" b="0" dirty="0">
                <a:solidFill>
                  <a:schemeClr val="accent1"/>
                </a:solidFill>
                <a:latin typeface="+mn-lt"/>
                <a:ea typeface="Calibri" pitchFamily="34" charset="-122"/>
                <a:cs typeface="Calibri" pitchFamily="34" charset="-120"/>
              </a:rPr>
              <a:t> tiers crew by route distance (short/medium/long), checks rest compliance</a:t>
            </a:r>
            <a:endParaRPr lang="en-IN" sz="2100" b="0" dirty="0">
              <a:solidFill>
                <a:schemeClr val="accent1"/>
              </a:solidFill>
              <a:latin typeface="+mn-lt"/>
            </a:endParaRPr>
          </a:p>
          <a:p>
            <a:pPr algn="just">
              <a:buFont typeface="Wingdings" panose="05000000000000000000" pitchFamily="2" charset="2"/>
              <a:buChar char="Ø"/>
            </a:pPr>
            <a:r>
              <a:rPr lang="en-IN" sz="2100" dirty="0">
                <a:solidFill>
                  <a:schemeClr val="accent1"/>
                </a:solidFill>
                <a:latin typeface="+mn-lt"/>
              </a:rPr>
              <a:t>Supervisor Control</a:t>
            </a:r>
            <a:r>
              <a:rPr lang="en-IN" sz="2100" b="0" dirty="0">
                <a:solidFill>
                  <a:schemeClr val="accent1"/>
                </a:solidFill>
                <a:latin typeface="+mn-lt"/>
              </a:rPr>
              <a:t> : </a:t>
            </a:r>
            <a:r>
              <a:rPr lang="en-US" sz="2100" b="0" dirty="0" err="1">
                <a:solidFill>
                  <a:schemeClr val="accent1"/>
                </a:solidFill>
                <a:latin typeface="+mn-lt"/>
                <a:ea typeface="Calibri" pitchFamily="34" charset="-122"/>
                <a:cs typeface="Calibri" pitchFamily="34" charset="-120"/>
              </a:rPr>
              <a:t>SupervisorAgent</a:t>
            </a:r>
            <a:r>
              <a:rPr lang="en-US" sz="2100" b="0" dirty="0">
                <a:solidFill>
                  <a:schemeClr val="accent1"/>
                </a:solidFill>
                <a:latin typeface="+mn-lt"/>
                <a:ea typeface="Calibri" pitchFamily="34" charset="-122"/>
                <a:cs typeface="Calibri" pitchFamily="34" charset="-120"/>
              </a:rPr>
              <a:t> dispatches all incoming requests to the correct agent</a:t>
            </a:r>
            <a:endParaRPr lang="en-IN" sz="2100" b="0" dirty="0">
              <a:solidFill>
                <a:schemeClr val="accent1"/>
              </a:solidFill>
              <a:latin typeface="+mn-lt"/>
            </a:endParaRPr>
          </a:p>
          <a:p>
            <a:pPr algn="just">
              <a:buFont typeface="Wingdings" panose="05000000000000000000" pitchFamily="2" charset="2"/>
              <a:buChar char="Ø"/>
            </a:pPr>
            <a:r>
              <a:rPr lang="en-IN" sz="2100" dirty="0">
                <a:solidFill>
                  <a:schemeClr val="accent1"/>
                </a:solidFill>
                <a:latin typeface="+mn-lt"/>
              </a:rPr>
              <a:t>Flask API Backend </a:t>
            </a:r>
            <a:r>
              <a:rPr lang="en-IN" sz="2100" b="0" dirty="0">
                <a:solidFill>
                  <a:schemeClr val="accent1"/>
                </a:solidFill>
                <a:latin typeface="+mn-lt"/>
              </a:rPr>
              <a:t>: </a:t>
            </a:r>
            <a:r>
              <a:rPr lang="en-US" sz="2100" b="0" dirty="0">
                <a:solidFill>
                  <a:schemeClr val="accent1"/>
                </a:solidFill>
                <a:latin typeface="+mn-lt"/>
                <a:ea typeface="Calibri" pitchFamily="34" charset="-122"/>
                <a:cs typeface="Calibri" pitchFamily="34" charset="-120"/>
              </a:rPr>
              <a:t>22 REST endpoints, CORS-enabled, JSON responses, </a:t>
            </a:r>
            <a:r>
              <a:rPr lang="en-US" sz="2100" b="0" dirty="0" err="1">
                <a:solidFill>
                  <a:schemeClr val="accent1"/>
                </a:solidFill>
                <a:latin typeface="+mn-lt"/>
                <a:ea typeface="Calibri" pitchFamily="34" charset="-122"/>
                <a:cs typeface="Calibri" pitchFamily="34" charset="-120"/>
              </a:rPr>
              <a:t>SQLAlchemy</a:t>
            </a:r>
            <a:r>
              <a:rPr lang="en-US" sz="2100" b="0" dirty="0">
                <a:solidFill>
                  <a:schemeClr val="accent1"/>
                </a:solidFill>
                <a:latin typeface="+mn-lt"/>
                <a:ea typeface="Calibri" pitchFamily="34" charset="-122"/>
                <a:cs typeface="Calibri" pitchFamily="34" charset="-120"/>
              </a:rPr>
              <a:t> ORM</a:t>
            </a:r>
            <a:endParaRPr lang="en-IN" sz="2100" b="0" dirty="0">
              <a:solidFill>
                <a:schemeClr val="accent1"/>
              </a:solidFill>
              <a:latin typeface="+mn-lt"/>
            </a:endParaRPr>
          </a:p>
          <a:p>
            <a:pPr algn="just">
              <a:buFont typeface="Wingdings" panose="05000000000000000000" pitchFamily="2" charset="2"/>
              <a:buChar char="Ø"/>
            </a:pPr>
            <a:r>
              <a:rPr lang="en-IN" sz="2100" dirty="0">
                <a:solidFill>
                  <a:schemeClr val="accent1"/>
                </a:solidFill>
                <a:latin typeface="+mn-lt"/>
              </a:rPr>
              <a:t>React Dashboard Visualization </a:t>
            </a:r>
            <a:r>
              <a:rPr lang="en-IN" sz="2100" b="0" dirty="0">
                <a:solidFill>
                  <a:schemeClr val="accent1"/>
                </a:solidFill>
                <a:latin typeface="+mn-lt"/>
              </a:rPr>
              <a:t>: </a:t>
            </a:r>
            <a:r>
              <a:rPr lang="en-US" sz="2100" b="0" dirty="0">
                <a:solidFill>
                  <a:schemeClr val="accent1"/>
                </a:solidFill>
                <a:latin typeface="+mn-lt"/>
                <a:ea typeface="Calibri" pitchFamily="34" charset="-122"/>
                <a:cs typeface="Calibri" pitchFamily="34" charset="-120"/>
              </a:rPr>
              <a:t>Owner Portal (port 3000): KPI, Fleet, Routes, Trips, Crew, Bookings, Turnover</a:t>
            </a:r>
            <a:endParaRPr lang="en-IN" sz="2100" b="0" dirty="0">
              <a:solidFill>
                <a:schemeClr val="accent1"/>
              </a:solidFill>
              <a:latin typeface="+mn-lt"/>
            </a:endParaRPr>
          </a:p>
          <a:p>
            <a:pPr algn="just">
              <a:buFont typeface="Wingdings" panose="05000000000000000000" pitchFamily="2" charset="2"/>
              <a:buChar char="Ø"/>
            </a:pPr>
            <a:r>
              <a:rPr lang="en-IN" sz="2100" dirty="0">
                <a:solidFill>
                  <a:schemeClr val="accent1"/>
                </a:solidFill>
                <a:latin typeface="+mn-lt"/>
              </a:rPr>
              <a:t>Excel Reporting </a:t>
            </a:r>
            <a:r>
              <a:rPr lang="en-IN" sz="2100" b="0" dirty="0">
                <a:solidFill>
                  <a:schemeClr val="accent1"/>
                </a:solidFill>
                <a:latin typeface="+mn-lt"/>
              </a:rPr>
              <a:t>: </a:t>
            </a:r>
            <a:r>
              <a:rPr lang="en-US" sz="2100" b="0" dirty="0">
                <a:solidFill>
                  <a:schemeClr val="accent1"/>
                </a:solidFill>
                <a:latin typeface="+mn-lt"/>
                <a:ea typeface="Calibri" pitchFamily="34" charset="-122"/>
                <a:cs typeface="Calibri" pitchFamily="34" charset="-120"/>
              </a:rPr>
              <a:t>AnalyticsAgent generates downloadable XLSX reports via </a:t>
            </a:r>
            <a:r>
              <a:rPr lang="en-US" sz="2100" b="0" dirty="0" err="1">
                <a:solidFill>
                  <a:schemeClr val="accent1"/>
                </a:solidFill>
                <a:latin typeface="+mn-lt"/>
                <a:ea typeface="Calibri" pitchFamily="34" charset="-122"/>
                <a:cs typeface="Calibri" pitchFamily="34" charset="-120"/>
              </a:rPr>
              <a:t>openpyxl</a:t>
            </a:r>
            <a:endParaRPr lang="en-US" sz="2100" b="0" dirty="0">
              <a:solidFill>
                <a:schemeClr val="accent1"/>
              </a:solidFill>
              <a:latin typeface="+mn-lt"/>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System Modules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C97623B-99BB-32ED-D117-D69BA26CE445}"/>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500808"/>
            <a:ext cx="11631204" cy="4410135"/>
          </a:xfrm>
        </p:spPr>
        <p:txBody>
          <a:bodyPr/>
          <a:lstStyle/>
          <a:p>
            <a:pPr algn="just">
              <a:buFont typeface="Wingdings" panose="05000000000000000000" pitchFamily="2" charset="2"/>
              <a:buChar char="Ø"/>
            </a:pPr>
            <a:r>
              <a:rPr lang="en-US" b="0" dirty="0">
                <a:latin typeface="+mn-lt"/>
                <a:ea typeface="Calibri" panose="020F0502020204030204" pitchFamily="34" charset="0"/>
              </a:rPr>
              <a:t>Modern public transportation systems require efficient bus scheduling, crew management, and route planning to maintain reliable service. However, traditional systems rely on static schedules and manual planning, making them unable to quickly adapt to real-time disruptions such as traffic congestion, fluctuating passenger demand, vehicle breakdowns, and crew availability.</a:t>
            </a:r>
          </a:p>
          <a:p>
            <a:pPr algn="just">
              <a:buFont typeface="Wingdings" panose="05000000000000000000" pitchFamily="2" charset="2"/>
              <a:buChar char="Ø"/>
            </a:pPr>
            <a:r>
              <a:rPr lang="en-US" b="0" dirty="0">
                <a:latin typeface="+mn-lt"/>
                <a:ea typeface="Calibri" panose="020F0502020204030204" pitchFamily="34" charset="0"/>
              </a:rPr>
              <a:t>Poor coordination between scheduling, routing, and crew allocation often leads to delays, bus bunching, inefficient resource utilization, and increased operational costs. With growing urban populations and mobility demands, there is a need for an intelligent system that can dynamically optimize transit operations and improve service reliability.</a:t>
            </a: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Problem </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695BB18-82E9-B60C-EFA3-64A7E293756B}"/>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510703"/>
            <a:ext cx="11576775" cy="4596182"/>
          </a:xfrm>
        </p:spPr>
        <p:txBody>
          <a:bodyPr/>
          <a:lstStyle/>
          <a:p>
            <a:pPr algn="just">
              <a:lnSpc>
                <a:spcPct val="100000"/>
              </a:lnSpc>
              <a:buFont typeface="Wingdings" panose="05000000000000000000" pitchFamily="2" charset="2"/>
              <a:buChar char="Ø"/>
            </a:pPr>
            <a:r>
              <a:rPr lang="en-US" sz="2300" dirty="0">
                <a:solidFill>
                  <a:schemeClr val="accent1"/>
                </a:solidFill>
                <a:latin typeface="+mn-lt"/>
              </a:rPr>
              <a:t>Data Ingestion</a:t>
            </a:r>
            <a:r>
              <a:rPr lang="en-US" sz="2300" b="0" dirty="0">
                <a:solidFill>
                  <a:schemeClr val="accent1"/>
                </a:solidFill>
                <a:latin typeface="+mn-lt"/>
              </a:rPr>
              <a:t>: GTFS static data (stops, trips, stop times) and real-time GPS feeds (latitude, longitude, timestamp) are collected and integrated into the system </a:t>
            </a:r>
            <a:r>
              <a:rPr lang="en-US" sz="2300" b="0" dirty="0">
                <a:solidFill>
                  <a:schemeClr val="accent1"/>
                </a:solidFill>
                <a:latin typeface="+mn-lt"/>
                <a:ea typeface="Calibri" pitchFamily="34" charset="-122"/>
                <a:cs typeface="Calibri" pitchFamily="34" charset="-120"/>
              </a:rPr>
              <a:t>via seed_data.py.</a:t>
            </a:r>
            <a:endParaRPr lang="en-US" sz="2300" b="0" dirty="0">
              <a:solidFill>
                <a:schemeClr val="accent1"/>
              </a:solidFill>
              <a:latin typeface="+mn-lt"/>
            </a:endParaRPr>
          </a:p>
          <a:p>
            <a:pPr algn="just">
              <a:lnSpc>
                <a:spcPct val="100000"/>
              </a:lnSpc>
              <a:buFont typeface="Wingdings" panose="05000000000000000000" pitchFamily="2" charset="2"/>
              <a:buChar char="Ø"/>
            </a:pPr>
            <a:r>
              <a:rPr lang="en-US" sz="2300" dirty="0">
                <a:solidFill>
                  <a:schemeClr val="accent1"/>
                </a:solidFill>
                <a:latin typeface="+mn-lt"/>
              </a:rPr>
              <a:t>Trip Extraction:</a:t>
            </a:r>
            <a:r>
              <a:rPr lang="en-US" sz="2300" b="0" dirty="0">
                <a:solidFill>
                  <a:schemeClr val="accent1"/>
                </a:solidFill>
                <a:latin typeface="+mn-lt"/>
                <a:ea typeface="Calibri" pitchFamily="34" charset="-122"/>
                <a:cs typeface="Calibri" pitchFamily="34" charset="-120"/>
              </a:rPr>
              <a:t> A </a:t>
            </a:r>
            <a:r>
              <a:rPr lang="en-US" sz="2300" b="0" dirty="0" err="1">
                <a:solidFill>
                  <a:schemeClr val="accent1"/>
                </a:solidFill>
                <a:latin typeface="+mn-lt"/>
                <a:ea typeface="Calibri" pitchFamily="34" charset="-122"/>
                <a:cs typeface="Calibri" pitchFamily="34" charset="-120"/>
              </a:rPr>
              <a:t>SchedulingAgent</a:t>
            </a:r>
            <a:r>
              <a:rPr lang="en-US" sz="2300" b="0" dirty="0">
                <a:solidFill>
                  <a:schemeClr val="accent1"/>
                </a:solidFill>
                <a:latin typeface="+mn-lt"/>
                <a:ea typeface="Calibri" pitchFamily="34" charset="-122"/>
                <a:cs typeface="Calibri" pitchFamily="34" charset="-120"/>
              </a:rPr>
              <a:t> processes GPS records to map vehicle movements and extract valid trips based on spatial-temporal patterns — enforcing minimum distance and stop count.</a:t>
            </a:r>
            <a:endParaRPr lang="en-US" sz="2300" b="0" dirty="0">
              <a:solidFill>
                <a:schemeClr val="accent1"/>
              </a:solidFill>
              <a:latin typeface="+mn-lt"/>
            </a:endParaRPr>
          </a:p>
          <a:p>
            <a:pPr algn="just">
              <a:lnSpc>
                <a:spcPct val="100000"/>
              </a:lnSpc>
              <a:buFont typeface="Wingdings" panose="05000000000000000000" pitchFamily="2" charset="2"/>
              <a:buChar char="Ø"/>
            </a:pPr>
            <a:r>
              <a:rPr lang="en-US" sz="2300" dirty="0">
                <a:solidFill>
                  <a:schemeClr val="accent1"/>
                </a:solidFill>
                <a:latin typeface="+mn-lt"/>
              </a:rPr>
              <a:t>Scheduling:</a:t>
            </a:r>
            <a:r>
              <a:rPr lang="en-US" sz="2300" b="0" dirty="0">
                <a:solidFill>
                  <a:schemeClr val="accent1"/>
                </a:solidFill>
                <a:latin typeface="+mn-lt"/>
              </a:rPr>
              <a:t> </a:t>
            </a:r>
            <a:r>
              <a:rPr lang="en-US" sz="2300" b="0" dirty="0">
                <a:solidFill>
                  <a:schemeClr val="accent1"/>
                </a:solidFill>
                <a:latin typeface="+mn-lt"/>
                <a:ea typeface="Calibri" pitchFamily="34" charset="-122"/>
                <a:cs typeface="Calibri" pitchFamily="34" charset="-120"/>
              </a:rPr>
              <a:t>A </a:t>
            </a:r>
            <a:r>
              <a:rPr lang="en-US" sz="2300" b="0" dirty="0" err="1">
                <a:solidFill>
                  <a:schemeClr val="accent1"/>
                </a:solidFill>
                <a:latin typeface="+mn-lt"/>
                <a:ea typeface="Calibri" pitchFamily="34" charset="-122"/>
                <a:cs typeface="Calibri" pitchFamily="34" charset="-120"/>
              </a:rPr>
              <a:t>SchedulingAgent</a:t>
            </a:r>
            <a:r>
              <a:rPr lang="en-US" sz="2300" b="0" dirty="0">
                <a:solidFill>
                  <a:schemeClr val="accent1"/>
                </a:solidFill>
                <a:latin typeface="+mn-lt"/>
                <a:ea typeface="Calibri" pitchFamily="34" charset="-122"/>
                <a:cs typeface="Calibri" pitchFamily="34" charset="-120"/>
              </a:rPr>
              <a:t> analyzes trip frequency, travel time, and demand patterns to generate optimized timetables — including 5-hour gap rule enforcement per route. </a:t>
            </a:r>
          </a:p>
          <a:p>
            <a:pPr algn="just">
              <a:lnSpc>
                <a:spcPct val="100000"/>
              </a:lnSpc>
              <a:buFont typeface="Wingdings" panose="05000000000000000000" pitchFamily="2" charset="2"/>
              <a:buChar char="Ø"/>
            </a:pPr>
            <a:r>
              <a:rPr lang="en-US" sz="2300" dirty="0">
                <a:solidFill>
                  <a:schemeClr val="accent1"/>
                </a:solidFill>
                <a:latin typeface="+mn-lt"/>
              </a:rPr>
              <a:t>Crew Assignment</a:t>
            </a:r>
            <a:r>
              <a:rPr lang="en-US" sz="2300" b="0" dirty="0">
                <a:solidFill>
                  <a:schemeClr val="accent1"/>
                </a:solidFill>
                <a:latin typeface="+mn-lt"/>
              </a:rPr>
              <a:t>: </a:t>
            </a:r>
            <a:r>
              <a:rPr lang="en-US" sz="2300" b="0" dirty="0">
                <a:solidFill>
                  <a:schemeClr val="accent1"/>
                </a:solidFill>
                <a:latin typeface="+mn-lt"/>
                <a:ea typeface="Calibri" pitchFamily="34" charset="-122"/>
                <a:cs typeface="Calibri" pitchFamily="34" charset="-120"/>
              </a:rPr>
              <a:t>A </a:t>
            </a:r>
            <a:r>
              <a:rPr lang="en-US" sz="2300" b="0" dirty="0" err="1">
                <a:solidFill>
                  <a:schemeClr val="accent1"/>
                </a:solidFill>
                <a:latin typeface="+mn-lt"/>
                <a:ea typeface="Calibri" pitchFamily="34" charset="-122"/>
                <a:cs typeface="Calibri" pitchFamily="34" charset="-120"/>
              </a:rPr>
              <a:t>CrewAgent</a:t>
            </a:r>
            <a:r>
              <a:rPr lang="en-US" sz="2300" b="0" dirty="0">
                <a:solidFill>
                  <a:schemeClr val="accent1"/>
                </a:solidFill>
                <a:latin typeface="+mn-lt"/>
                <a:ea typeface="Calibri" pitchFamily="34" charset="-122"/>
                <a:cs typeface="Calibri" pitchFamily="34" charset="-120"/>
              </a:rPr>
              <a:t> assigns drivers and conductors based on availability, shift constraints (4-hr rest rule), and route distance tiers (short/medium/long).</a:t>
            </a:r>
            <a:endParaRPr lang="en-US" sz="2300" b="0" dirty="0">
              <a:solidFill>
                <a:schemeClr val="accent1"/>
              </a:solidFill>
              <a:latin typeface="+mn-lt"/>
            </a:endParaRPr>
          </a:p>
          <a:p>
            <a:pPr algn="just">
              <a:lnSpc>
                <a:spcPct val="100000"/>
              </a:lnSpc>
              <a:buFont typeface="Wingdings" panose="05000000000000000000" pitchFamily="2" charset="2"/>
              <a:buChar char="Ø"/>
            </a:pPr>
            <a:r>
              <a:rPr lang="en-US" sz="2300" dirty="0">
                <a:solidFill>
                  <a:schemeClr val="accent1"/>
                </a:solidFill>
                <a:latin typeface="+mn-lt"/>
              </a:rPr>
              <a:t>Dashboard &amp; API Output</a:t>
            </a:r>
            <a:r>
              <a:rPr lang="en-US" sz="2300" b="0" dirty="0">
                <a:solidFill>
                  <a:schemeClr val="accent1"/>
                </a:solidFill>
                <a:latin typeface="+mn-lt"/>
              </a:rPr>
              <a:t>: </a:t>
            </a:r>
            <a:r>
              <a:rPr lang="en-US" sz="2300" b="0" dirty="0">
                <a:solidFill>
                  <a:schemeClr val="accent1"/>
                </a:solidFill>
                <a:latin typeface="+mn-lt"/>
                <a:ea typeface="Calibri" pitchFamily="34" charset="-122"/>
                <a:cs typeface="Calibri" pitchFamily="34" charset="-120"/>
              </a:rPr>
              <a:t>Processed data is exposed via Flask REST APIs and visualized through dashboards for monitoring routes, schedules, and operational efficiency.</a:t>
            </a:r>
            <a:endParaRPr lang="en-US" sz="2300" b="0" dirty="0">
              <a:solidFill>
                <a:schemeClr val="accent1"/>
              </a:solidFill>
              <a:latin typeface="+mn-lt"/>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Methodology/Modeling Plan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53D01B5-A709-0F88-9776-7F55128423DF}"/>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240815" y="1609157"/>
            <a:ext cx="11504871" cy="4399749"/>
          </a:xfrm>
        </p:spPr>
        <p:txBody>
          <a:bodyPr/>
          <a:lstStyle/>
          <a:p>
            <a:pPr algn="just">
              <a:buFont typeface="Wingdings" panose="05000000000000000000" pitchFamily="2" charset="2"/>
              <a:buChar char="Ø"/>
            </a:pPr>
            <a:r>
              <a:rPr lang="en-US" sz="2300" dirty="0">
                <a:solidFill>
                  <a:schemeClr val="accent1"/>
                </a:solidFill>
                <a:latin typeface="+mn-lt"/>
              </a:rPr>
              <a:t>Trip Extraction &amp; Processing</a:t>
            </a:r>
            <a:r>
              <a:rPr lang="en-US" sz="2300" b="0" dirty="0">
                <a:solidFill>
                  <a:schemeClr val="accent1"/>
                </a:solidFill>
                <a:latin typeface="+mn-lt"/>
              </a:rPr>
              <a:t>: </a:t>
            </a:r>
            <a:r>
              <a:rPr lang="en-US" sz="2300" b="0" dirty="0">
                <a:solidFill>
                  <a:schemeClr val="accent1"/>
                </a:solidFill>
                <a:latin typeface="+mn-lt"/>
                <a:ea typeface="Calibri" pitchFamily="34" charset="-122"/>
                <a:cs typeface="Calibri" pitchFamily="34" charset="-120"/>
              </a:rPr>
              <a:t>Extract trips from GPS/GTFS data using time-series grouping and sorting techniques — keyed by </a:t>
            </a:r>
            <a:r>
              <a:rPr lang="en-US" sz="2300" b="0" dirty="0" err="1">
                <a:solidFill>
                  <a:schemeClr val="accent1"/>
                </a:solidFill>
                <a:latin typeface="+mn-lt"/>
                <a:ea typeface="Calibri" pitchFamily="34" charset="-122"/>
                <a:cs typeface="Calibri" pitchFamily="34" charset="-120"/>
              </a:rPr>
              <a:t>route_code</a:t>
            </a:r>
            <a:r>
              <a:rPr lang="en-US" sz="2300" b="0" dirty="0">
                <a:solidFill>
                  <a:schemeClr val="accent1"/>
                </a:solidFill>
                <a:latin typeface="+mn-lt"/>
                <a:ea typeface="Calibri" pitchFamily="34" charset="-122"/>
                <a:cs typeface="Calibri" pitchFamily="34" charset="-120"/>
              </a:rPr>
              <a:t> + </a:t>
            </a:r>
            <a:r>
              <a:rPr lang="en-US" sz="2300" b="0" dirty="0" err="1">
                <a:solidFill>
                  <a:schemeClr val="accent1"/>
                </a:solidFill>
                <a:latin typeface="+mn-lt"/>
                <a:ea typeface="Calibri" pitchFamily="34" charset="-122"/>
                <a:cs typeface="Calibri" pitchFamily="34" charset="-120"/>
              </a:rPr>
              <a:t>departure_datetime</a:t>
            </a:r>
            <a:r>
              <a:rPr lang="en-US" sz="2300" b="0" dirty="0">
                <a:solidFill>
                  <a:schemeClr val="accent1"/>
                </a:solidFill>
                <a:latin typeface="+mn-lt"/>
                <a:ea typeface="Calibri" pitchFamily="34" charset="-122"/>
                <a:cs typeface="Calibri" pitchFamily="34" charset="-120"/>
              </a:rPr>
              <a:t> with 5-hour minimum spacing. </a:t>
            </a:r>
          </a:p>
          <a:p>
            <a:pPr algn="just">
              <a:buFont typeface="Wingdings" panose="05000000000000000000" pitchFamily="2" charset="2"/>
              <a:buChar char="Ø"/>
            </a:pPr>
            <a:r>
              <a:rPr lang="en-US" sz="2300" dirty="0">
                <a:solidFill>
                  <a:schemeClr val="accent1"/>
                </a:solidFill>
                <a:latin typeface="+mn-lt"/>
              </a:rPr>
              <a:t>AI-Based Scheduling Optimization</a:t>
            </a:r>
            <a:r>
              <a:rPr lang="en-US" sz="2300" b="0" dirty="0">
                <a:solidFill>
                  <a:schemeClr val="accent1"/>
                </a:solidFill>
                <a:latin typeface="+mn-lt"/>
              </a:rPr>
              <a:t>:</a:t>
            </a:r>
            <a:r>
              <a:rPr lang="en-US" sz="2300" b="0" dirty="0">
                <a:solidFill>
                  <a:schemeClr val="accent1"/>
                </a:solidFill>
                <a:latin typeface="+mn-lt"/>
                <a:ea typeface="Calibri" pitchFamily="34" charset="-122"/>
                <a:cs typeface="Calibri" pitchFamily="34" charset="-120"/>
              </a:rPr>
              <a:t> Generate optimized schedules using constraint-based logic (minimum trip duration, global time gaps, and route spacing across 6 intercity corridors). </a:t>
            </a:r>
          </a:p>
          <a:p>
            <a:pPr algn="just">
              <a:buFont typeface="Wingdings" panose="05000000000000000000" pitchFamily="2" charset="2"/>
              <a:buChar char="Ø"/>
            </a:pPr>
            <a:r>
              <a:rPr lang="en-US" sz="2300" dirty="0">
                <a:solidFill>
                  <a:schemeClr val="accent1"/>
                </a:solidFill>
                <a:latin typeface="+mn-lt"/>
              </a:rPr>
              <a:t>Congestion Detection Algorithm</a:t>
            </a:r>
            <a:r>
              <a:rPr lang="en-US" sz="2300" b="0" dirty="0">
                <a:solidFill>
                  <a:schemeClr val="accent1"/>
                </a:solidFill>
                <a:latin typeface="+mn-lt"/>
              </a:rPr>
              <a:t>: </a:t>
            </a:r>
            <a:r>
              <a:rPr lang="en-US" sz="2300" b="0" dirty="0">
                <a:solidFill>
                  <a:schemeClr val="accent1"/>
                </a:solidFill>
                <a:latin typeface="+mn-lt"/>
                <a:ea typeface="Calibri" pitchFamily="34" charset="-122"/>
                <a:cs typeface="Calibri" pitchFamily="34" charset="-120"/>
              </a:rPr>
              <a:t>Identify congestion by detecting high-load trips (</a:t>
            </a:r>
            <a:r>
              <a:rPr lang="en-US" sz="2300" b="0" dirty="0" err="1">
                <a:solidFill>
                  <a:schemeClr val="accent1"/>
                </a:solidFill>
                <a:latin typeface="+mn-lt"/>
                <a:ea typeface="Calibri" pitchFamily="34" charset="-122"/>
                <a:cs typeface="Calibri" pitchFamily="34" charset="-120"/>
              </a:rPr>
              <a:t>seats_booked</a:t>
            </a:r>
            <a:r>
              <a:rPr lang="en-US" sz="2300" b="0" dirty="0">
                <a:solidFill>
                  <a:schemeClr val="accent1"/>
                </a:solidFill>
                <a:latin typeface="+mn-lt"/>
                <a:ea typeface="Calibri" pitchFamily="34" charset="-122"/>
                <a:cs typeface="Calibri" pitchFamily="34" charset="-120"/>
              </a:rPr>
              <a:t> / </a:t>
            </a:r>
            <a:r>
              <a:rPr lang="en-US" sz="2300" b="0" dirty="0" err="1">
                <a:solidFill>
                  <a:schemeClr val="accent1"/>
                </a:solidFill>
                <a:latin typeface="+mn-lt"/>
                <a:ea typeface="Calibri" pitchFamily="34" charset="-122"/>
                <a:cs typeface="Calibri" pitchFamily="34" charset="-120"/>
              </a:rPr>
              <a:t>seats_total</a:t>
            </a:r>
            <a:r>
              <a:rPr lang="en-US" sz="2300" b="0" dirty="0">
                <a:solidFill>
                  <a:schemeClr val="accent1"/>
                </a:solidFill>
                <a:latin typeface="+mn-lt"/>
                <a:ea typeface="Calibri" pitchFamily="34" charset="-122"/>
                <a:cs typeface="Calibri" pitchFamily="34" charset="-120"/>
              </a:rPr>
              <a:t> &gt; 0.9) — trips above threshold flagged in KPI dashboard for operator review. </a:t>
            </a:r>
          </a:p>
          <a:p>
            <a:pPr algn="just">
              <a:buFont typeface="Wingdings" panose="05000000000000000000" pitchFamily="2" charset="2"/>
              <a:buChar char="Ø"/>
            </a:pPr>
            <a:r>
              <a:rPr lang="en-US" sz="2300" dirty="0">
                <a:solidFill>
                  <a:schemeClr val="accent1"/>
                </a:solidFill>
                <a:latin typeface="+mn-lt"/>
              </a:rPr>
              <a:t>Multi-Agent System Architecture</a:t>
            </a:r>
            <a:r>
              <a:rPr lang="en-US" sz="2300" b="0" dirty="0">
                <a:solidFill>
                  <a:schemeClr val="accent1"/>
                </a:solidFill>
                <a:latin typeface="+mn-lt"/>
              </a:rPr>
              <a:t>: </a:t>
            </a:r>
            <a:r>
              <a:rPr lang="en-US" sz="2300" b="0" dirty="0">
                <a:solidFill>
                  <a:schemeClr val="accent1"/>
                </a:solidFill>
                <a:latin typeface="+mn-lt"/>
                <a:ea typeface="Calibri" pitchFamily="34" charset="-122"/>
                <a:cs typeface="Calibri" pitchFamily="34" charset="-120"/>
              </a:rPr>
              <a:t>Use specialized agents (</a:t>
            </a:r>
            <a:r>
              <a:rPr lang="en-US" sz="2300" b="0" dirty="0" err="1">
                <a:solidFill>
                  <a:schemeClr val="accent1"/>
                </a:solidFill>
                <a:latin typeface="+mn-lt"/>
                <a:ea typeface="Calibri" pitchFamily="34" charset="-122"/>
                <a:cs typeface="Calibri" pitchFamily="34" charset="-120"/>
              </a:rPr>
              <a:t>RouteAgent</a:t>
            </a:r>
            <a:r>
              <a:rPr lang="en-US" sz="2300" b="0" dirty="0">
                <a:solidFill>
                  <a:schemeClr val="accent1"/>
                </a:solidFill>
                <a:latin typeface="+mn-lt"/>
                <a:ea typeface="Calibri" pitchFamily="34" charset="-122"/>
                <a:cs typeface="Calibri" pitchFamily="34" charset="-120"/>
              </a:rPr>
              <a:t>, </a:t>
            </a:r>
            <a:r>
              <a:rPr lang="en-US" sz="2300" b="0" dirty="0" err="1">
                <a:solidFill>
                  <a:schemeClr val="accent1"/>
                </a:solidFill>
                <a:latin typeface="+mn-lt"/>
                <a:ea typeface="Calibri" pitchFamily="34" charset="-122"/>
                <a:cs typeface="Calibri" pitchFamily="34" charset="-120"/>
              </a:rPr>
              <a:t>SchedulingAgent</a:t>
            </a:r>
            <a:r>
              <a:rPr lang="en-US" sz="2300" b="0" dirty="0">
                <a:solidFill>
                  <a:schemeClr val="accent1"/>
                </a:solidFill>
                <a:latin typeface="+mn-lt"/>
                <a:ea typeface="Calibri" pitchFamily="34" charset="-122"/>
                <a:cs typeface="Calibri" pitchFamily="34" charset="-120"/>
              </a:rPr>
              <a:t>, </a:t>
            </a:r>
            <a:r>
              <a:rPr lang="en-US" sz="2300" b="0" dirty="0" err="1">
                <a:solidFill>
                  <a:schemeClr val="accent1"/>
                </a:solidFill>
                <a:latin typeface="+mn-lt"/>
                <a:ea typeface="Calibri" pitchFamily="34" charset="-122"/>
                <a:cs typeface="Calibri" pitchFamily="34" charset="-120"/>
              </a:rPr>
              <a:t>CrewAgent</a:t>
            </a:r>
            <a:r>
              <a:rPr lang="en-US" sz="2300" b="0" dirty="0">
                <a:solidFill>
                  <a:schemeClr val="accent1"/>
                </a:solidFill>
                <a:latin typeface="+mn-lt"/>
                <a:ea typeface="Calibri" pitchFamily="34" charset="-122"/>
                <a:cs typeface="Calibri" pitchFamily="34" charset="-120"/>
              </a:rPr>
              <a:t>, </a:t>
            </a:r>
            <a:r>
              <a:rPr lang="en-US" sz="2300" b="0" dirty="0" err="1">
                <a:solidFill>
                  <a:schemeClr val="accent1"/>
                </a:solidFill>
                <a:latin typeface="+mn-lt"/>
                <a:ea typeface="Calibri" pitchFamily="34" charset="-122"/>
                <a:cs typeface="Calibri" pitchFamily="34" charset="-120"/>
              </a:rPr>
              <a:t>BookingAgent</a:t>
            </a:r>
            <a:r>
              <a:rPr lang="en-US" sz="2300" b="0" dirty="0">
                <a:solidFill>
                  <a:schemeClr val="accent1"/>
                </a:solidFill>
                <a:latin typeface="+mn-lt"/>
                <a:ea typeface="Calibri" pitchFamily="34" charset="-122"/>
                <a:cs typeface="Calibri" pitchFamily="34" charset="-120"/>
              </a:rPr>
              <a:t>, AnalyticsAgent) coordinated via a </a:t>
            </a:r>
            <a:r>
              <a:rPr lang="en-US" sz="2300" b="0" dirty="0" err="1">
                <a:solidFill>
                  <a:schemeClr val="accent1"/>
                </a:solidFill>
                <a:latin typeface="+mn-lt"/>
                <a:ea typeface="Calibri" pitchFamily="34" charset="-122"/>
                <a:cs typeface="Calibri" pitchFamily="34" charset="-120"/>
              </a:rPr>
              <a:t>SupervisorAgent</a:t>
            </a:r>
            <a:r>
              <a:rPr lang="en-US" sz="2300" b="0" dirty="0">
                <a:solidFill>
                  <a:schemeClr val="accent1"/>
                </a:solidFill>
                <a:latin typeface="+mn-lt"/>
                <a:ea typeface="Calibri" pitchFamily="34" charset="-122"/>
                <a:cs typeface="Calibri" pitchFamily="34" charset="-120"/>
              </a:rPr>
              <a:t> for modular, rule-based processing.</a:t>
            </a:r>
            <a:endParaRPr lang="en-US" sz="2300" b="0" dirty="0">
              <a:solidFill>
                <a:schemeClr val="accent1"/>
              </a:solidFill>
              <a:latin typeface="+mn-lt"/>
            </a:endParaRPr>
          </a:p>
        </p:txBody>
      </p:sp>
      <p:sp>
        <p:nvSpPr>
          <p:cNvPr id="3" name="TextBox 2">
            <a:extLst>
              <a:ext uri="{FF2B5EF4-FFF2-40B4-BE49-F238E27FC236}">
                <a16:creationId xmlns:a16="http://schemas.microsoft.com/office/drawing/2014/main" id="{3D243BDD-B44E-04F0-FA93-336DD2FFA770}"/>
              </a:ext>
            </a:extLst>
          </p:cNvPr>
          <p:cNvSpPr txBox="1"/>
          <p:nvPr/>
        </p:nvSpPr>
        <p:spPr>
          <a:xfrm>
            <a:off x="221274" y="54542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28BE7E4-03B5-8376-3519-267E948C42CB}"/>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663367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8C0DB-E77A-ACE6-1ADB-76C6ADB3A6A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2826EF0-F3F3-B5D6-2268-A61C176DF10C}"/>
              </a:ext>
            </a:extLst>
          </p:cNvPr>
          <p:cNvSpPr>
            <a:spLocks noGrp="1"/>
          </p:cNvSpPr>
          <p:nvPr>
            <p:ph type="body" sz="quarter" idx="13"/>
          </p:nvPr>
        </p:nvSpPr>
        <p:spPr>
          <a:xfrm>
            <a:off x="255996" y="1594385"/>
            <a:ext cx="11489689" cy="4395022"/>
          </a:xfrm>
        </p:spPr>
        <p:txBody>
          <a:bodyPr/>
          <a:lstStyle/>
          <a:p>
            <a:pPr algn="just">
              <a:buFont typeface="Wingdings" panose="05000000000000000000" pitchFamily="2" charset="2"/>
              <a:buChar char="Ø"/>
            </a:pPr>
            <a:r>
              <a:rPr lang="en-US" sz="2400" dirty="0">
                <a:solidFill>
                  <a:schemeClr val="accent1"/>
                </a:solidFill>
                <a:latin typeface="+mn-lt"/>
              </a:rPr>
              <a:t>Python &amp; VS Code</a:t>
            </a:r>
            <a:r>
              <a:rPr lang="en-US" sz="2400" b="0" dirty="0">
                <a:solidFill>
                  <a:schemeClr val="accent1"/>
                </a:solidFill>
                <a:latin typeface="+mn-lt"/>
              </a:rPr>
              <a:t>: </a:t>
            </a:r>
            <a:r>
              <a:rPr lang="en-US" sz="2400" b="0" dirty="0">
                <a:solidFill>
                  <a:schemeClr val="accent1"/>
                </a:solidFill>
                <a:latin typeface="+mn-lt"/>
                <a:ea typeface="Calibri" pitchFamily="34" charset="-122"/>
                <a:cs typeface="Calibri" pitchFamily="34" charset="-120"/>
              </a:rPr>
              <a:t>Core system development implemented in Python 3.11 using VS Code as the primary IDE, with a virtual environment and pip for package management.</a:t>
            </a:r>
            <a:endParaRPr lang="en-US" sz="2400" b="0" dirty="0">
              <a:solidFill>
                <a:schemeClr val="accent1"/>
              </a:solidFill>
              <a:latin typeface="+mn-lt"/>
            </a:endParaRPr>
          </a:p>
          <a:p>
            <a:pPr algn="just">
              <a:buFont typeface="Wingdings" panose="05000000000000000000" pitchFamily="2" charset="2"/>
              <a:buChar char="Ø"/>
            </a:pPr>
            <a:r>
              <a:rPr lang="en-US" sz="2400" dirty="0">
                <a:solidFill>
                  <a:schemeClr val="accent1"/>
                </a:solidFill>
                <a:latin typeface="+mn-lt"/>
              </a:rPr>
              <a:t>Pandas &amp; NumPy</a:t>
            </a:r>
            <a:r>
              <a:rPr lang="en-US" sz="2400" b="0" dirty="0">
                <a:solidFill>
                  <a:schemeClr val="accent1"/>
                </a:solidFill>
                <a:latin typeface="+mn-lt"/>
              </a:rPr>
              <a:t>: </a:t>
            </a:r>
            <a:r>
              <a:rPr lang="en-US" sz="2400" b="0" dirty="0">
                <a:solidFill>
                  <a:schemeClr val="accent1"/>
                </a:solidFill>
                <a:latin typeface="+mn-lt"/>
                <a:ea typeface="Calibri" pitchFamily="34" charset="-122"/>
                <a:cs typeface="Calibri" pitchFamily="34" charset="-120"/>
              </a:rPr>
              <a:t>Used for data preprocessing, transformation, and large-scale data handling in AnalyticsAgent — powering Excel export and KPI aggregation.</a:t>
            </a:r>
            <a:endParaRPr lang="en-US" sz="2400" b="0" dirty="0">
              <a:solidFill>
                <a:schemeClr val="accent1"/>
              </a:solidFill>
              <a:latin typeface="+mn-lt"/>
            </a:endParaRPr>
          </a:p>
          <a:p>
            <a:pPr algn="just">
              <a:buFont typeface="Wingdings" panose="05000000000000000000" pitchFamily="2" charset="2"/>
              <a:buChar char="Ø"/>
            </a:pPr>
            <a:r>
              <a:rPr lang="en-US" sz="2400" dirty="0">
                <a:solidFill>
                  <a:schemeClr val="accent1"/>
                </a:solidFill>
                <a:latin typeface="+mn-lt"/>
              </a:rPr>
              <a:t>Flask API: </a:t>
            </a:r>
            <a:r>
              <a:rPr lang="en-US" sz="2400" b="0" dirty="0">
                <a:solidFill>
                  <a:schemeClr val="accent1"/>
                </a:solidFill>
                <a:latin typeface="+mn-lt"/>
                <a:ea typeface="Calibri" pitchFamily="34" charset="-122"/>
                <a:cs typeface="Calibri" pitchFamily="34" charset="-120"/>
              </a:rPr>
              <a:t>Backend API for serving processed data (dashboard metrics and schedule output) — 22 endpoints with Flask-CORS and Flask-</a:t>
            </a:r>
            <a:r>
              <a:rPr lang="en-US" sz="2400" b="0" dirty="0" err="1">
                <a:solidFill>
                  <a:schemeClr val="accent1"/>
                </a:solidFill>
                <a:latin typeface="+mn-lt"/>
                <a:ea typeface="Calibri" pitchFamily="34" charset="-122"/>
                <a:cs typeface="Calibri" pitchFamily="34" charset="-120"/>
              </a:rPr>
              <a:t>SQLAlchemy</a:t>
            </a:r>
            <a:r>
              <a:rPr lang="en-US" sz="2400" b="0" dirty="0">
                <a:solidFill>
                  <a:schemeClr val="accent1"/>
                </a:solidFill>
                <a:latin typeface="+mn-lt"/>
                <a:ea typeface="Calibri" pitchFamily="34" charset="-122"/>
                <a:cs typeface="Calibri" pitchFamily="34" charset="-120"/>
              </a:rPr>
              <a:t>.</a:t>
            </a:r>
            <a:endParaRPr lang="en-US" sz="2400" b="0" dirty="0">
              <a:solidFill>
                <a:schemeClr val="accent1"/>
              </a:solidFill>
              <a:latin typeface="+mn-lt"/>
            </a:endParaRPr>
          </a:p>
          <a:p>
            <a:pPr algn="just">
              <a:buFont typeface="Wingdings" panose="05000000000000000000" pitchFamily="2" charset="2"/>
              <a:buChar char="Ø"/>
            </a:pPr>
            <a:r>
              <a:rPr lang="en-US" sz="2400" dirty="0">
                <a:solidFill>
                  <a:schemeClr val="accent1"/>
                </a:solidFill>
                <a:latin typeface="+mn-lt"/>
              </a:rPr>
              <a:t>GTFS Data (General Transit Feed Specification)</a:t>
            </a:r>
            <a:r>
              <a:rPr lang="en-US" sz="2400" b="0" dirty="0">
                <a:solidFill>
                  <a:schemeClr val="accent1"/>
                </a:solidFill>
                <a:latin typeface="+mn-lt"/>
              </a:rPr>
              <a:t>:</a:t>
            </a:r>
            <a:r>
              <a:rPr lang="en-US" sz="2400" b="0" dirty="0">
                <a:solidFill>
                  <a:schemeClr val="accent1"/>
                </a:solidFill>
                <a:latin typeface="+mn-lt"/>
                <a:ea typeface="Calibri" pitchFamily="34" charset="-122"/>
                <a:cs typeface="Calibri" pitchFamily="34" charset="-120"/>
              </a:rPr>
              <a:t>Used for structured public transport data including stops, routes, and trip information — BMTC GTFS dataset as schema reference.</a:t>
            </a:r>
            <a:endParaRPr lang="en-US" sz="2400" b="0" dirty="0">
              <a:solidFill>
                <a:schemeClr val="accent1"/>
              </a:solidFill>
              <a:latin typeface="+mn-lt"/>
            </a:endParaRPr>
          </a:p>
          <a:p>
            <a:pPr algn="just">
              <a:buFont typeface="Wingdings" panose="05000000000000000000" pitchFamily="2" charset="2"/>
              <a:buChar char="Ø"/>
            </a:pPr>
            <a:r>
              <a:rPr lang="en-US" sz="2400" dirty="0">
                <a:solidFill>
                  <a:schemeClr val="accent1"/>
                </a:solidFill>
                <a:latin typeface="+mn-lt"/>
              </a:rPr>
              <a:t>Excel Reporting (Pandas)</a:t>
            </a:r>
            <a:r>
              <a:rPr lang="en-US" sz="2400" b="0" dirty="0">
                <a:solidFill>
                  <a:schemeClr val="accent1"/>
                </a:solidFill>
                <a:latin typeface="+mn-lt"/>
              </a:rPr>
              <a:t>: </a:t>
            </a:r>
            <a:r>
              <a:rPr lang="en-US" sz="2400" b="0" dirty="0">
                <a:solidFill>
                  <a:schemeClr val="accent1"/>
                </a:solidFill>
                <a:latin typeface="+mn-lt"/>
                <a:ea typeface="Calibri" pitchFamily="34" charset="-122"/>
                <a:cs typeface="Calibri" pitchFamily="34" charset="-120"/>
              </a:rPr>
              <a:t>Export of schedule and congestion data into Excel for analysis and reporting via /</a:t>
            </a:r>
            <a:r>
              <a:rPr lang="en-US" sz="2400" b="0" dirty="0" err="1">
                <a:solidFill>
                  <a:schemeClr val="accent1"/>
                </a:solidFill>
                <a:latin typeface="+mn-lt"/>
                <a:ea typeface="Calibri" pitchFamily="34" charset="-122"/>
                <a:cs typeface="Calibri" pitchFamily="34" charset="-120"/>
              </a:rPr>
              <a:t>api</a:t>
            </a:r>
            <a:r>
              <a:rPr lang="en-US" sz="2400" b="0" dirty="0">
                <a:solidFill>
                  <a:schemeClr val="accent1"/>
                </a:solidFill>
                <a:latin typeface="+mn-lt"/>
                <a:ea typeface="Calibri" pitchFamily="34" charset="-122"/>
                <a:cs typeface="Calibri" pitchFamily="34" charset="-120"/>
              </a:rPr>
              <a:t>/analytics/export/* endpoints using </a:t>
            </a:r>
            <a:r>
              <a:rPr lang="en-US" sz="2400" b="0" dirty="0" err="1">
                <a:solidFill>
                  <a:schemeClr val="accent1"/>
                </a:solidFill>
                <a:latin typeface="+mn-lt"/>
                <a:ea typeface="Calibri" pitchFamily="34" charset="-122"/>
                <a:cs typeface="Calibri" pitchFamily="34" charset="-120"/>
              </a:rPr>
              <a:t>openpyxl</a:t>
            </a:r>
            <a:r>
              <a:rPr lang="en-US" sz="2400" b="0" dirty="0">
                <a:solidFill>
                  <a:schemeClr val="accent1"/>
                </a:solidFill>
                <a:latin typeface="+mn-lt"/>
                <a:ea typeface="Calibri" pitchFamily="34" charset="-122"/>
                <a:cs typeface="Calibri" pitchFamily="34" charset="-120"/>
              </a:rPr>
              <a:t>.</a:t>
            </a:r>
            <a:endParaRPr lang="en-US" sz="2400" b="0" dirty="0">
              <a:solidFill>
                <a:schemeClr val="accent1"/>
              </a:solidFill>
              <a:latin typeface="+mn-lt"/>
            </a:endParaRPr>
          </a:p>
        </p:txBody>
      </p:sp>
      <p:sp>
        <p:nvSpPr>
          <p:cNvPr id="3" name="TextBox 2">
            <a:extLst>
              <a:ext uri="{FF2B5EF4-FFF2-40B4-BE49-F238E27FC236}">
                <a16:creationId xmlns:a16="http://schemas.microsoft.com/office/drawing/2014/main" id="{2A951948-6862-7DC2-473B-2CF8235FD9FB}"/>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3F2B0C7A-E006-91C9-7B6C-2507E955FE4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DD37A0A-45F0-0F15-1511-2AFE24D52EAE}"/>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3136860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4" y="1271218"/>
            <a:ext cx="11772719" cy="4900977"/>
          </a:xfrm>
        </p:spPr>
        <p:txBody>
          <a:bodyPr/>
          <a:lstStyle/>
          <a:p>
            <a:pPr algn="just">
              <a:lnSpc>
                <a:spcPct val="100000"/>
              </a:lnSpc>
              <a:buFont typeface="Wingdings" panose="05000000000000000000" pitchFamily="2" charset="2"/>
              <a:buChar char="Ø"/>
            </a:pPr>
            <a:r>
              <a:rPr lang="en-US" sz="2600" dirty="0">
                <a:latin typeface="+mn-lt"/>
              </a:rPr>
              <a:t>614 trips successfully scheduled — across 6 routes over 14 days — all 5-hour gap rules enforced with zero violations.</a:t>
            </a:r>
          </a:p>
          <a:p>
            <a:pPr algn="just">
              <a:lnSpc>
                <a:spcPct val="100000"/>
              </a:lnSpc>
              <a:buFont typeface="Wingdings" panose="05000000000000000000" pitchFamily="2" charset="2"/>
              <a:buChar char="Ø"/>
            </a:pPr>
            <a:r>
              <a:rPr lang="en-US" sz="2600" dirty="0">
                <a:latin typeface="+mn-lt"/>
              </a:rPr>
              <a:t>100% crew assignment achieved — with optimized resource utilization across all 3 distance tiers (short/medium/long).</a:t>
            </a:r>
          </a:p>
          <a:p>
            <a:pPr algn="just">
              <a:lnSpc>
                <a:spcPct val="100000"/>
              </a:lnSpc>
              <a:buFont typeface="Wingdings" panose="05000000000000000000" pitchFamily="2" charset="2"/>
              <a:buChar char="Ø"/>
            </a:pPr>
            <a:r>
              <a:rPr lang="en-US" sz="2600" dirty="0">
                <a:latin typeface="+mn-lt"/>
              </a:rPr>
              <a:t>74.2% average load factor — across completed trips — 10+ congestion-flagged trips identified (load &gt; 90%) for operator review.</a:t>
            </a:r>
          </a:p>
          <a:p>
            <a:pPr algn="just">
              <a:lnSpc>
                <a:spcPct val="100000"/>
              </a:lnSpc>
              <a:buFont typeface="Wingdings" panose="05000000000000000000" pitchFamily="2" charset="2"/>
              <a:buChar char="Ø"/>
            </a:pPr>
            <a:r>
              <a:rPr lang="en-US" sz="2600" dirty="0">
                <a:latin typeface="+mn-lt"/>
              </a:rPr>
              <a:t>Efficient scheduling with all constraints satisfied — — rest rules, gap rules, seat conflicts, and fare computations all enforced automatically.</a:t>
            </a:r>
          </a:p>
          <a:p>
            <a:pPr algn="just">
              <a:lnSpc>
                <a:spcPct val="100000"/>
              </a:lnSpc>
              <a:buFont typeface="Wingdings" panose="05000000000000000000" pitchFamily="2" charset="2"/>
              <a:buChar char="Ø"/>
            </a:pPr>
            <a:r>
              <a:rPr lang="en-US" sz="2600" dirty="0">
                <a:latin typeface="+mn-lt"/>
              </a:rPr>
              <a:t>Real-time dashboard + Excel reporting implemented — — Owner Portal with 7 pages, KPI charts, and 3 downloadable Excel reports.</a:t>
            </a: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B25D1B7-3059-00F2-2DE3-949D66EF0D82}"/>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87520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B14D2-AE4B-8631-E563-D027791D3EA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06CB232-149F-B106-864A-E5D83E6EFD59}"/>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4E7A5E5D-D4CC-3564-7B2B-B7D5772591F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CE0CC3A-F7B0-AE9D-C314-1998E5CEA3C9}"/>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7" name="Picture 6">
            <a:extLst>
              <a:ext uri="{FF2B5EF4-FFF2-40B4-BE49-F238E27FC236}">
                <a16:creationId xmlns:a16="http://schemas.microsoft.com/office/drawing/2014/main" id="{687149F3-4FCC-5203-806B-78489D36B872}"/>
              </a:ext>
            </a:extLst>
          </p:cNvPr>
          <p:cNvPicPr>
            <a:picLocks noChangeAspect="1"/>
          </p:cNvPicPr>
          <p:nvPr/>
        </p:nvPicPr>
        <p:blipFill>
          <a:blip r:embed="rId2"/>
          <a:stretch>
            <a:fillRect/>
          </a:stretch>
        </p:blipFill>
        <p:spPr>
          <a:xfrm>
            <a:off x="812287" y="1615982"/>
            <a:ext cx="2888855" cy="4392932"/>
          </a:xfrm>
          <a:prstGeom prst="rect">
            <a:avLst/>
          </a:prstGeom>
        </p:spPr>
      </p:pic>
      <p:pic>
        <p:nvPicPr>
          <p:cNvPr id="9" name="Picture 8">
            <a:extLst>
              <a:ext uri="{FF2B5EF4-FFF2-40B4-BE49-F238E27FC236}">
                <a16:creationId xmlns:a16="http://schemas.microsoft.com/office/drawing/2014/main" id="{090C9771-0E2A-79A9-E792-874844EE715A}"/>
              </a:ext>
            </a:extLst>
          </p:cNvPr>
          <p:cNvPicPr>
            <a:picLocks noChangeAspect="1"/>
          </p:cNvPicPr>
          <p:nvPr/>
        </p:nvPicPr>
        <p:blipFill>
          <a:blip r:embed="rId3"/>
          <a:stretch>
            <a:fillRect/>
          </a:stretch>
        </p:blipFill>
        <p:spPr>
          <a:xfrm>
            <a:off x="3874173" y="1615981"/>
            <a:ext cx="7784427" cy="4392929"/>
          </a:xfrm>
          <a:prstGeom prst="rect">
            <a:avLst/>
          </a:prstGeom>
        </p:spPr>
      </p:pic>
    </p:spTree>
    <p:extLst>
      <p:ext uri="{BB962C8B-B14F-4D97-AF65-F5344CB8AC3E}">
        <p14:creationId xmlns:p14="http://schemas.microsoft.com/office/powerpoint/2010/main" val="1641850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4D9FA-812F-5491-A7FE-25B7E65C4C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410DF2-940E-DB83-4E17-F0D68615FD49}"/>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B215945F-6C0C-5E1A-6DDB-D5BFBCFDBA9B}"/>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7422E85-A116-EBA1-A0C5-48D8B45BEDBC}"/>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4" name="Picture 3">
            <a:extLst>
              <a:ext uri="{FF2B5EF4-FFF2-40B4-BE49-F238E27FC236}">
                <a16:creationId xmlns:a16="http://schemas.microsoft.com/office/drawing/2014/main" id="{71BA033B-848F-831F-FF10-3B31D22DE498}"/>
              </a:ext>
            </a:extLst>
          </p:cNvPr>
          <p:cNvPicPr>
            <a:picLocks noChangeAspect="1"/>
          </p:cNvPicPr>
          <p:nvPr/>
        </p:nvPicPr>
        <p:blipFill>
          <a:blip r:embed="rId2"/>
          <a:stretch>
            <a:fillRect/>
          </a:stretch>
        </p:blipFill>
        <p:spPr>
          <a:xfrm>
            <a:off x="707571" y="1698174"/>
            <a:ext cx="10624337" cy="4125682"/>
          </a:xfrm>
          <a:prstGeom prst="rect">
            <a:avLst/>
          </a:prstGeom>
        </p:spPr>
      </p:pic>
    </p:spTree>
    <p:extLst>
      <p:ext uri="{BB962C8B-B14F-4D97-AF65-F5344CB8AC3E}">
        <p14:creationId xmlns:p14="http://schemas.microsoft.com/office/powerpoint/2010/main" val="1880491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5AC0D-6761-6127-F257-529A526F87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6B49B6-0BA7-5A96-0FCF-FC038621D8B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B3B00BD8-A03B-5D2C-8E2A-6D8193F8926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A5070CF-B515-1CA2-6701-DFC8DE2A2F07}"/>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7" name="Picture 6">
            <a:extLst>
              <a:ext uri="{FF2B5EF4-FFF2-40B4-BE49-F238E27FC236}">
                <a16:creationId xmlns:a16="http://schemas.microsoft.com/office/drawing/2014/main" id="{A0845508-8475-6B46-876A-20D82F0F9289}"/>
              </a:ext>
            </a:extLst>
          </p:cNvPr>
          <p:cNvPicPr>
            <a:picLocks noChangeAspect="1"/>
          </p:cNvPicPr>
          <p:nvPr/>
        </p:nvPicPr>
        <p:blipFill>
          <a:blip r:embed="rId2"/>
          <a:stretch>
            <a:fillRect/>
          </a:stretch>
        </p:blipFill>
        <p:spPr>
          <a:xfrm>
            <a:off x="500744" y="1471642"/>
            <a:ext cx="2636212" cy="4336116"/>
          </a:xfrm>
          <a:prstGeom prst="rect">
            <a:avLst/>
          </a:prstGeom>
        </p:spPr>
      </p:pic>
      <p:pic>
        <p:nvPicPr>
          <p:cNvPr id="9" name="Picture 8">
            <a:extLst>
              <a:ext uri="{FF2B5EF4-FFF2-40B4-BE49-F238E27FC236}">
                <a16:creationId xmlns:a16="http://schemas.microsoft.com/office/drawing/2014/main" id="{6873BE21-D5CE-44CA-BBBF-F7948C6812D7}"/>
              </a:ext>
            </a:extLst>
          </p:cNvPr>
          <p:cNvPicPr>
            <a:picLocks noChangeAspect="1"/>
          </p:cNvPicPr>
          <p:nvPr/>
        </p:nvPicPr>
        <p:blipFill>
          <a:blip r:embed="rId3"/>
          <a:stretch>
            <a:fillRect/>
          </a:stretch>
        </p:blipFill>
        <p:spPr>
          <a:xfrm>
            <a:off x="3298370" y="1471642"/>
            <a:ext cx="8637633" cy="4336114"/>
          </a:xfrm>
          <a:prstGeom prst="rect">
            <a:avLst/>
          </a:prstGeom>
        </p:spPr>
      </p:pic>
    </p:spTree>
    <p:extLst>
      <p:ext uri="{BB962C8B-B14F-4D97-AF65-F5344CB8AC3E}">
        <p14:creationId xmlns:p14="http://schemas.microsoft.com/office/powerpoint/2010/main" val="3017955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22F74-6CEC-1688-BB30-C0C6320282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69667F-3DD9-E715-338A-8CCE86B38DCD}"/>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440B40F6-A4BC-398A-1506-7CDE136CF1A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B013DFC-BEE8-D3EB-63AB-E8249FB97932}"/>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4" name="Picture 3">
            <a:extLst>
              <a:ext uri="{FF2B5EF4-FFF2-40B4-BE49-F238E27FC236}">
                <a16:creationId xmlns:a16="http://schemas.microsoft.com/office/drawing/2014/main" id="{CAA2D0C3-BED2-492A-CFCF-A8FA7F12BC99}"/>
              </a:ext>
            </a:extLst>
          </p:cNvPr>
          <p:cNvPicPr>
            <a:picLocks noChangeAspect="1"/>
          </p:cNvPicPr>
          <p:nvPr/>
        </p:nvPicPr>
        <p:blipFill>
          <a:blip r:embed="rId2"/>
          <a:stretch>
            <a:fillRect/>
          </a:stretch>
        </p:blipFill>
        <p:spPr>
          <a:xfrm>
            <a:off x="433558" y="1471642"/>
            <a:ext cx="2483813" cy="4336112"/>
          </a:xfrm>
          <a:prstGeom prst="rect">
            <a:avLst/>
          </a:prstGeom>
        </p:spPr>
      </p:pic>
      <p:pic>
        <p:nvPicPr>
          <p:cNvPr id="10" name="Picture 9">
            <a:extLst>
              <a:ext uri="{FF2B5EF4-FFF2-40B4-BE49-F238E27FC236}">
                <a16:creationId xmlns:a16="http://schemas.microsoft.com/office/drawing/2014/main" id="{743DD6D0-EA2C-4374-D24E-6F8B8C3F3835}"/>
              </a:ext>
            </a:extLst>
          </p:cNvPr>
          <p:cNvPicPr>
            <a:picLocks noChangeAspect="1"/>
          </p:cNvPicPr>
          <p:nvPr/>
        </p:nvPicPr>
        <p:blipFill>
          <a:blip r:embed="rId3"/>
          <a:stretch>
            <a:fillRect/>
          </a:stretch>
        </p:blipFill>
        <p:spPr>
          <a:xfrm>
            <a:off x="3178629" y="1471642"/>
            <a:ext cx="3744686" cy="4336108"/>
          </a:xfrm>
          <a:prstGeom prst="rect">
            <a:avLst/>
          </a:prstGeom>
        </p:spPr>
      </p:pic>
      <p:pic>
        <p:nvPicPr>
          <p:cNvPr id="12" name="Picture 11">
            <a:extLst>
              <a:ext uri="{FF2B5EF4-FFF2-40B4-BE49-F238E27FC236}">
                <a16:creationId xmlns:a16="http://schemas.microsoft.com/office/drawing/2014/main" id="{135449EB-4BA7-B749-9EB4-12652140BA42}"/>
              </a:ext>
            </a:extLst>
          </p:cNvPr>
          <p:cNvPicPr>
            <a:picLocks noChangeAspect="1"/>
          </p:cNvPicPr>
          <p:nvPr/>
        </p:nvPicPr>
        <p:blipFill>
          <a:blip r:embed="rId4"/>
          <a:stretch>
            <a:fillRect/>
          </a:stretch>
        </p:blipFill>
        <p:spPr>
          <a:xfrm>
            <a:off x="7234857" y="1458359"/>
            <a:ext cx="4523585" cy="4362674"/>
          </a:xfrm>
          <a:prstGeom prst="rect">
            <a:avLst/>
          </a:prstGeom>
        </p:spPr>
      </p:pic>
    </p:spTree>
    <p:extLst>
      <p:ext uri="{BB962C8B-B14F-4D97-AF65-F5344CB8AC3E}">
        <p14:creationId xmlns:p14="http://schemas.microsoft.com/office/powerpoint/2010/main" val="245651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8BE82-61A3-E338-BB98-0C422DF948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33EBAF-26E2-D363-DA11-D3267B7BAF69}"/>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62D6149-CAD1-90D6-972A-316053DF8C3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37C0B57-DBAD-D77E-C75C-0D6881FCF3D2}"/>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7" name="Picture 6">
            <a:extLst>
              <a:ext uri="{FF2B5EF4-FFF2-40B4-BE49-F238E27FC236}">
                <a16:creationId xmlns:a16="http://schemas.microsoft.com/office/drawing/2014/main" id="{5A12F270-A461-D51B-A4D3-E9212D37C20E}"/>
              </a:ext>
            </a:extLst>
          </p:cNvPr>
          <p:cNvPicPr>
            <a:picLocks noChangeAspect="1"/>
          </p:cNvPicPr>
          <p:nvPr/>
        </p:nvPicPr>
        <p:blipFill>
          <a:blip r:embed="rId2"/>
          <a:stretch>
            <a:fillRect/>
          </a:stretch>
        </p:blipFill>
        <p:spPr>
          <a:xfrm>
            <a:off x="529260" y="1471641"/>
            <a:ext cx="2507854" cy="4336103"/>
          </a:xfrm>
          <a:prstGeom prst="rect">
            <a:avLst/>
          </a:prstGeom>
        </p:spPr>
      </p:pic>
      <p:pic>
        <p:nvPicPr>
          <p:cNvPr id="9" name="Picture 8">
            <a:extLst>
              <a:ext uri="{FF2B5EF4-FFF2-40B4-BE49-F238E27FC236}">
                <a16:creationId xmlns:a16="http://schemas.microsoft.com/office/drawing/2014/main" id="{435E787E-220D-FA5C-3FA3-F5F0F4B0BF35}"/>
              </a:ext>
            </a:extLst>
          </p:cNvPr>
          <p:cNvPicPr>
            <a:picLocks noChangeAspect="1"/>
          </p:cNvPicPr>
          <p:nvPr/>
        </p:nvPicPr>
        <p:blipFill>
          <a:blip r:embed="rId3"/>
          <a:stretch>
            <a:fillRect/>
          </a:stretch>
        </p:blipFill>
        <p:spPr>
          <a:xfrm>
            <a:off x="3297674" y="1471642"/>
            <a:ext cx="8545983" cy="4336102"/>
          </a:xfrm>
          <a:prstGeom prst="rect">
            <a:avLst/>
          </a:prstGeom>
        </p:spPr>
      </p:pic>
    </p:spTree>
    <p:extLst>
      <p:ext uri="{BB962C8B-B14F-4D97-AF65-F5344CB8AC3E}">
        <p14:creationId xmlns:p14="http://schemas.microsoft.com/office/powerpoint/2010/main" val="4284762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DA14C-B543-D42F-3E1E-BC8C86DBA9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4FD170-461F-DED3-C194-EAECA0494C35}"/>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968BE5AF-0527-9B62-20E8-32B40E08743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32842B7-DA6B-2CE0-E1E2-077C8768526F}"/>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4" name="Picture 3">
            <a:extLst>
              <a:ext uri="{FF2B5EF4-FFF2-40B4-BE49-F238E27FC236}">
                <a16:creationId xmlns:a16="http://schemas.microsoft.com/office/drawing/2014/main" id="{219CB2F0-7AA0-4ECE-188C-EECE68BD40CD}"/>
              </a:ext>
            </a:extLst>
          </p:cNvPr>
          <p:cNvPicPr>
            <a:picLocks noChangeAspect="1"/>
          </p:cNvPicPr>
          <p:nvPr/>
        </p:nvPicPr>
        <p:blipFill>
          <a:blip r:embed="rId2"/>
          <a:stretch>
            <a:fillRect/>
          </a:stretch>
        </p:blipFill>
        <p:spPr>
          <a:xfrm>
            <a:off x="712507" y="1471643"/>
            <a:ext cx="2357264" cy="4336102"/>
          </a:xfrm>
          <a:prstGeom prst="rect">
            <a:avLst/>
          </a:prstGeom>
        </p:spPr>
      </p:pic>
      <p:pic>
        <p:nvPicPr>
          <p:cNvPr id="10" name="Picture 9">
            <a:extLst>
              <a:ext uri="{FF2B5EF4-FFF2-40B4-BE49-F238E27FC236}">
                <a16:creationId xmlns:a16="http://schemas.microsoft.com/office/drawing/2014/main" id="{8526E111-A33F-F583-DDF2-F644335AD659}"/>
              </a:ext>
            </a:extLst>
          </p:cNvPr>
          <p:cNvPicPr>
            <a:picLocks noChangeAspect="1"/>
          </p:cNvPicPr>
          <p:nvPr/>
        </p:nvPicPr>
        <p:blipFill>
          <a:blip r:embed="rId3"/>
          <a:stretch>
            <a:fillRect/>
          </a:stretch>
        </p:blipFill>
        <p:spPr>
          <a:xfrm>
            <a:off x="3287087" y="1471643"/>
            <a:ext cx="8479971" cy="2006703"/>
          </a:xfrm>
          <a:prstGeom prst="rect">
            <a:avLst/>
          </a:prstGeom>
        </p:spPr>
      </p:pic>
      <p:pic>
        <p:nvPicPr>
          <p:cNvPr id="12" name="Picture 11">
            <a:extLst>
              <a:ext uri="{FF2B5EF4-FFF2-40B4-BE49-F238E27FC236}">
                <a16:creationId xmlns:a16="http://schemas.microsoft.com/office/drawing/2014/main" id="{EDEAAEEE-E3F4-F795-771B-27850F5D5131}"/>
              </a:ext>
            </a:extLst>
          </p:cNvPr>
          <p:cNvPicPr>
            <a:picLocks noChangeAspect="1"/>
          </p:cNvPicPr>
          <p:nvPr/>
        </p:nvPicPr>
        <p:blipFill>
          <a:blip r:embed="rId4"/>
          <a:stretch>
            <a:fillRect/>
          </a:stretch>
        </p:blipFill>
        <p:spPr>
          <a:xfrm>
            <a:off x="3287086" y="3570513"/>
            <a:ext cx="8479971" cy="2862943"/>
          </a:xfrm>
          <a:prstGeom prst="rect">
            <a:avLst/>
          </a:prstGeom>
        </p:spPr>
      </p:pic>
    </p:spTree>
    <p:extLst>
      <p:ext uri="{BB962C8B-B14F-4D97-AF65-F5344CB8AC3E}">
        <p14:creationId xmlns:p14="http://schemas.microsoft.com/office/powerpoint/2010/main" val="85947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F1A87-709D-8D8D-336A-E1423997AA2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118BDF-7A4C-505F-68BF-263AFA9AC065}"/>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45E3F693-35A0-356C-DBF9-504C38417F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38B3EB5-D232-B6A6-BD1A-754A93A40535}"/>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7" name="Picture 6">
            <a:extLst>
              <a:ext uri="{FF2B5EF4-FFF2-40B4-BE49-F238E27FC236}">
                <a16:creationId xmlns:a16="http://schemas.microsoft.com/office/drawing/2014/main" id="{0040A218-72B5-BC53-335D-E580E98E7EDC}"/>
              </a:ext>
            </a:extLst>
          </p:cNvPr>
          <p:cNvPicPr>
            <a:picLocks noChangeAspect="1"/>
          </p:cNvPicPr>
          <p:nvPr/>
        </p:nvPicPr>
        <p:blipFill>
          <a:blip r:embed="rId2"/>
          <a:stretch>
            <a:fillRect/>
          </a:stretch>
        </p:blipFill>
        <p:spPr>
          <a:xfrm>
            <a:off x="546955" y="1471643"/>
            <a:ext cx="2479273" cy="4352214"/>
          </a:xfrm>
          <a:prstGeom prst="rect">
            <a:avLst/>
          </a:prstGeom>
        </p:spPr>
      </p:pic>
      <p:pic>
        <p:nvPicPr>
          <p:cNvPr id="9" name="Picture 8">
            <a:extLst>
              <a:ext uri="{FF2B5EF4-FFF2-40B4-BE49-F238E27FC236}">
                <a16:creationId xmlns:a16="http://schemas.microsoft.com/office/drawing/2014/main" id="{8DEBA647-D96B-88AB-03A0-70A98A1021BE}"/>
              </a:ext>
            </a:extLst>
          </p:cNvPr>
          <p:cNvPicPr>
            <a:picLocks noChangeAspect="1"/>
          </p:cNvPicPr>
          <p:nvPr/>
        </p:nvPicPr>
        <p:blipFill>
          <a:blip r:embed="rId3"/>
          <a:stretch>
            <a:fillRect/>
          </a:stretch>
        </p:blipFill>
        <p:spPr>
          <a:xfrm>
            <a:off x="3331028" y="1471642"/>
            <a:ext cx="8479972" cy="4352207"/>
          </a:xfrm>
          <a:prstGeom prst="rect">
            <a:avLst/>
          </a:prstGeom>
        </p:spPr>
      </p:pic>
    </p:spTree>
    <p:extLst>
      <p:ext uri="{BB962C8B-B14F-4D97-AF65-F5344CB8AC3E}">
        <p14:creationId xmlns:p14="http://schemas.microsoft.com/office/powerpoint/2010/main" val="179424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A6A7A-477B-7448-99D2-A3B2878510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F466F1-1233-17F3-C387-F7BFB91896D8}"/>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FEDE32EE-2788-0D28-1B2A-F2BA43874A0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2087B03-99AE-36B1-CD39-77CD4618375F}"/>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4" name="Picture 3">
            <a:extLst>
              <a:ext uri="{FF2B5EF4-FFF2-40B4-BE49-F238E27FC236}">
                <a16:creationId xmlns:a16="http://schemas.microsoft.com/office/drawing/2014/main" id="{EF163B7C-698A-5C59-995A-890AD9B72346}"/>
              </a:ext>
            </a:extLst>
          </p:cNvPr>
          <p:cNvPicPr>
            <a:picLocks noChangeAspect="1"/>
          </p:cNvPicPr>
          <p:nvPr/>
        </p:nvPicPr>
        <p:blipFill>
          <a:blip r:embed="rId2"/>
          <a:stretch>
            <a:fillRect/>
          </a:stretch>
        </p:blipFill>
        <p:spPr>
          <a:xfrm>
            <a:off x="533401" y="1471642"/>
            <a:ext cx="2471056" cy="4352204"/>
          </a:xfrm>
          <a:prstGeom prst="rect">
            <a:avLst/>
          </a:prstGeom>
        </p:spPr>
      </p:pic>
      <p:pic>
        <p:nvPicPr>
          <p:cNvPr id="10" name="Picture 9">
            <a:extLst>
              <a:ext uri="{FF2B5EF4-FFF2-40B4-BE49-F238E27FC236}">
                <a16:creationId xmlns:a16="http://schemas.microsoft.com/office/drawing/2014/main" id="{C1DEFD1F-6AC6-3F18-D8F9-BC7CCAFACC0B}"/>
              </a:ext>
            </a:extLst>
          </p:cNvPr>
          <p:cNvPicPr>
            <a:picLocks noChangeAspect="1"/>
          </p:cNvPicPr>
          <p:nvPr/>
        </p:nvPicPr>
        <p:blipFill>
          <a:blip r:embed="rId3"/>
          <a:stretch>
            <a:fillRect/>
          </a:stretch>
        </p:blipFill>
        <p:spPr>
          <a:xfrm>
            <a:off x="3209221" y="1471642"/>
            <a:ext cx="8590894" cy="2025754"/>
          </a:xfrm>
          <a:prstGeom prst="rect">
            <a:avLst/>
          </a:prstGeom>
        </p:spPr>
      </p:pic>
      <p:pic>
        <p:nvPicPr>
          <p:cNvPr id="12" name="Picture 11">
            <a:extLst>
              <a:ext uri="{FF2B5EF4-FFF2-40B4-BE49-F238E27FC236}">
                <a16:creationId xmlns:a16="http://schemas.microsoft.com/office/drawing/2014/main" id="{8633D9A4-35C4-779A-7B40-98F48315A8AE}"/>
              </a:ext>
            </a:extLst>
          </p:cNvPr>
          <p:cNvPicPr>
            <a:picLocks noChangeAspect="1"/>
          </p:cNvPicPr>
          <p:nvPr/>
        </p:nvPicPr>
        <p:blipFill>
          <a:blip r:embed="rId4"/>
          <a:stretch>
            <a:fillRect/>
          </a:stretch>
        </p:blipFill>
        <p:spPr>
          <a:xfrm>
            <a:off x="3209222" y="3647744"/>
            <a:ext cx="8590894" cy="2707711"/>
          </a:xfrm>
          <a:prstGeom prst="rect">
            <a:avLst/>
          </a:prstGeom>
        </p:spPr>
      </p:pic>
    </p:spTree>
    <p:extLst>
      <p:ext uri="{BB962C8B-B14F-4D97-AF65-F5344CB8AC3E}">
        <p14:creationId xmlns:p14="http://schemas.microsoft.com/office/powerpoint/2010/main" val="3788233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FF1D9-C3EE-94AC-07AC-46CBCF29F7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30E6D1-6476-AB70-5BD2-A7EDBA5C1495}"/>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1957F5E-9536-4DA3-EFB0-197DAE407D9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ED3893C-BC28-DADB-60BF-BFD0A8F01575}"/>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4" name="Picture 3">
            <a:extLst>
              <a:ext uri="{FF2B5EF4-FFF2-40B4-BE49-F238E27FC236}">
                <a16:creationId xmlns:a16="http://schemas.microsoft.com/office/drawing/2014/main" id="{308276E5-A8E4-0067-DF3C-82C3828CE3CC}"/>
              </a:ext>
            </a:extLst>
          </p:cNvPr>
          <p:cNvPicPr>
            <a:picLocks noChangeAspect="1"/>
          </p:cNvPicPr>
          <p:nvPr/>
        </p:nvPicPr>
        <p:blipFill>
          <a:blip r:embed="rId2"/>
          <a:stretch>
            <a:fillRect/>
          </a:stretch>
        </p:blipFill>
        <p:spPr>
          <a:xfrm>
            <a:off x="533401" y="1471642"/>
            <a:ext cx="2471056" cy="4352204"/>
          </a:xfrm>
          <a:prstGeom prst="rect">
            <a:avLst/>
          </a:prstGeom>
        </p:spPr>
      </p:pic>
      <p:pic>
        <p:nvPicPr>
          <p:cNvPr id="7" name="Picture 6">
            <a:extLst>
              <a:ext uri="{FF2B5EF4-FFF2-40B4-BE49-F238E27FC236}">
                <a16:creationId xmlns:a16="http://schemas.microsoft.com/office/drawing/2014/main" id="{396A4EDE-A162-F70B-FB9F-0DB6D2569C38}"/>
              </a:ext>
            </a:extLst>
          </p:cNvPr>
          <p:cNvPicPr>
            <a:picLocks noChangeAspect="1"/>
          </p:cNvPicPr>
          <p:nvPr/>
        </p:nvPicPr>
        <p:blipFill>
          <a:blip r:embed="rId3"/>
          <a:stretch>
            <a:fillRect/>
          </a:stretch>
        </p:blipFill>
        <p:spPr>
          <a:xfrm>
            <a:off x="3428307" y="1471641"/>
            <a:ext cx="8360922" cy="4352195"/>
          </a:xfrm>
          <a:prstGeom prst="rect">
            <a:avLst/>
          </a:prstGeom>
        </p:spPr>
      </p:pic>
    </p:spTree>
    <p:extLst>
      <p:ext uri="{BB962C8B-B14F-4D97-AF65-F5344CB8AC3E}">
        <p14:creationId xmlns:p14="http://schemas.microsoft.com/office/powerpoint/2010/main" val="4234107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49BC7-B20C-F0C4-D8E2-57C37D5629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DC7BA3-4F4E-40E7-2E8F-BD062B14E9B8}"/>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94A454AB-D78C-25BC-6E59-B05F38A176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DDE35C8-145D-90D9-DBFC-AE67B1C5440C}"/>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4" name="Picture 3">
            <a:extLst>
              <a:ext uri="{FF2B5EF4-FFF2-40B4-BE49-F238E27FC236}">
                <a16:creationId xmlns:a16="http://schemas.microsoft.com/office/drawing/2014/main" id="{3BAC0F8A-CD6B-03A1-67E0-930FA73DD334}"/>
              </a:ext>
            </a:extLst>
          </p:cNvPr>
          <p:cNvPicPr>
            <a:picLocks noChangeAspect="1"/>
          </p:cNvPicPr>
          <p:nvPr/>
        </p:nvPicPr>
        <p:blipFill>
          <a:blip r:embed="rId2"/>
          <a:stretch>
            <a:fillRect/>
          </a:stretch>
        </p:blipFill>
        <p:spPr>
          <a:xfrm>
            <a:off x="533401" y="1471642"/>
            <a:ext cx="2471056" cy="4352204"/>
          </a:xfrm>
          <a:prstGeom prst="rect">
            <a:avLst/>
          </a:prstGeom>
        </p:spPr>
      </p:pic>
      <p:pic>
        <p:nvPicPr>
          <p:cNvPr id="8" name="Picture 7">
            <a:extLst>
              <a:ext uri="{FF2B5EF4-FFF2-40B4-BE49-F238E27FC236}">
                <a16:creationId xmlns:a16="http://schemas.microsoft.com/office/drawing/2014/main" id="{0E1C00B7-1483-46CA-E7B2-F4D586F72DF8}"/>
              </a:ext>
            </a:extLst>
          </p:cNvPr>
          <p:cNvPicPr>
            <a:picLocks noChangeAspect="1"/>
          </p:cNvPicPr>
          <p:nvPr/>
        </p:nvPicPr>
        <p:blipFill>
          <a:blip r:embed="rId3"/>
          <a:stretch>
            <a:fillRect/>
          </a:stretch>
        </p:blipFill>
        <p:spPr>
          <a:xfrm>
            <a:off x="3213309" y="1471641"/>
            <a:ext cx="8532377" cy="4352195"/>
          </a:xfrm>
          <a:prstGeom prst="rect">
            <a:avLst/>
          </a:prstGeom>
        </p:spPr>
      </p:pic>
    </p:spTree>
    <p:extLst>
      <p:ext uri="{BB962C8B-B14F-4D97-AF65-F5344CB8AC3E}">
        <p14:creationId xmlns:p14="http://schemas.microsoft.com/office/powerpoint/2010/main" val="4197940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75E13-33FE-FC7B-FEDF-13097401BE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80275D-B34F-4CBD-957A-2DF5123A29EF}"/>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6335BC5-ADCA-F772-90AB-4F450CE7A03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BC07A89-7C4F-3A7A-1B31-496E59E5F83D}"/>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7" name="Picture 6">
            <a:extLst>
              <a:ext uri="{FF2B5EF4-FFF2-40B4-BE49-F238E27FC236}">
                <a16:creationId xmlns:a16="http://schemas.microsoft.com/office/drawing/2014/main" id="{BEA6495F-14DD-9C81-56B3-C3E5ABD4EF38}"/>
              </a:ext>
            </a:extLst>
          </p:cNvPr>
          <p:cNvPicPr>
            <a:picLocks noChangeAspect="1"/>
          </p:cNvPicPr>
          <p:nvPr/>
        </p:nvPicPr>
        <p:blipFill>
          <a:blip r:embed="rId2"/>
          <a:stretch>
            <a:fillRect/>
          </a:stretch>
        </p:blipFill>
        <p:spPr>
          <a:xfrm>
            <a:off x="137287" y="1395194"/>
            <a:ext cx="11913212" cy="4292821"/>
          </a:xfrm>
          <a:prstGeom prst="rect">
            <a:avLst/>
          </a:prstGeom>
        </p:spPr>
      </p:pic>
    </p:spTree>
    <p:extLst>
      <p:ext uri="{BB962C8B-B14F-4D97-AF65-F5344CB8AC3E}">
        <p14:creationId xmlns:p14="http://schemas.microsoft.com/office/powerpoint/2010/main" val="10722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70C99-E435-060E-278C-3ECDE493EBD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7EB960-F71E-05B9-7391-15D13DEA1964}"/>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E2112F1-D40C-E1EA-0732-DA7F66ABC24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4722AA3-C3FE-25EF-A104-B278B429BD80}"/>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4" name="Picture 3">
            <a:extLst>
              <a:ext uri="{FF2B5EF4-FFF2-40B4-BE49-F238E27FC236}">
                <a16:creationId xmlns:a16="http://schemas.microsoft.com/office/drawing/2014/main" id="{6CB21A53-DF0A-AB58-B678-CC163051A43B}"/>
              </a:ext>
            </a:extLst>
          </p:cNvPr>
          <p:cNvPicPr>
            <a:picLocks noChangeAspect="1"/>
          </p:cNvPicPr>
          <p:nvPr/>
        </p:nvPicPr>
        <p:blipFill>
          <a:blip r:embed="rId2"/>
          <a:stretch>
            <a:fillRect/>
          </a:stretch>
        </p:blipFill>
        <p:spPr>
          <a:xfrm>
            <a:off x="282276" y="1663609"/>
            <a:ext cx="11627448" cy="4002634"/>
          </a:xfrm>
          <a:prstGeom prst="rect">
            <a:avLst/>
          </a:prstGeom>
        </p:spPr>
      </p:pic>
    </p:spTree>
    <p:extLst>
      <p:ext uri="{BB962C8B-B14F-4D97-AF65-F5344CB8AC3E}">
        <p14:creationId xmlns:p14="http://schemas.microsoft.com/office/powerpoint/2010/main" val="938523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41A0E-555E-707D-41B7-6C1028D068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D18341-EEDB-1EAC-EB84-2DCE97ED36F3}"/>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4F4FBA87-24C6-D702-5187-2C6387057CC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E60D5F3-6B2C-29B2-2DC5-F920A031A329}"/>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7" name="Picture 6">
            <a:extLst>
              <a:ext uri="{FF2B5EF4-FFF2-40B4-BE49-F238E27FC236}">
                <a16:creationId xmlns:a16="http://schemas.microsoft.com/office/drawing/2014/main" id="{C351825B-AA0F-8903-D7E8-F27234A16D0B}"/>
              </a:ext>
            </a:extLst>
          </p:cNvPr>
          <p:cNvPicPr>
            <a:picLocks noChangeAspect="1"/>
          </p:cNvPicPr>
          <p:nvPr/>
        </p:nvPicPr>
        <p:blipFill>
          <a:blip r:embed="rId2"/>
          <a:stretch>
            <a:fillRect/>
          </a:stretch>
        </p:blipFill>
        <p:spPr>
          <a:xfrm>
            <a:off x="887367" y="1463573"/>
            <a:ext cx="4407126" cy="4708609"/>
          </a:xfrm>
          <a:prstGeom prst="rect">
            <a:avLst/>
          </a:prstGeom>
        </p:spPr>
      </p:pic>
      <p:pic>
        <p:nvPicPr>
          <p:cNvPr id="9" name="Picture 8">
            <a:extLst>
              <a:ext uri="{FF2B5EF4-FFF2-40B4-BE49-F238E27FC236}">
                <a16:creationId xmlns:a16="http://schemas.microsoft.com/office/drawing/2014/main" id="{56287AC7-C89B-72CA-3A23-34C608A7AA9E}"/>
              </a:ext>
            </a:extLst>
          </p:cNvPr>
          <p:cNvPicPr>
            <a:picLocks noChangeAspect="1"/>
          </p:cNvPicPr>
          <p:nvPr/>
        </p:nvPicPr>
        <p:blipFill>
          <a:blip r:embed="rId3"/>
          <a:stretch>
            <a:fillRect/>
          </a:stretch>
        </p:blipFill>
        <p:spPr>
          <a:xfrm>
            <a:off x="6816613" y="1463574"/>
            <a:ext cx="4349974" cy="4800847"/>
          </a:xfrm>
          <a:prstGeom prst="rect">
            <a:avLst/>
          </a:prstGeom>
        </p:spPr>
      </p:pic>
    </p:spTree>
    <p:extLst>
      <p:ext uri="{BB962C8B-B14F-4D97-AF65-F5344CB8AC3E}">
        <p14:creationId xmlns:p14="http://schemas.microsoft.com/office/powerpoint/2010/main" val="700146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D8105-0419-6CBD-40D3-249DF4C716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0592D5-60D3-C17D-3199-552715BC3136}"/>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6D8C2A1F-BE0E-074C-08EF-3962A537591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AFC8EE7-EBE8-E7A3-AB4D-9B83AD16FAD5}"/>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4" name="Picture 3">
            <a:extLst>
              <a:ext uri="{FF2B5EF4-FFF2-40B4-BE49-F238E27FC236}">
                <a16:creationId xmlns:a16="http://schemas.microsoft.com/office/drawing/2014/main" id="{C1D98F83-AC99-9A7A-01EB-478E7A5BBDA9}"/>
              </a:ext>
            </a:extLst>
          </p:cNvPr>
          <p:cNvPicPr>
            <a:picLocks noChangeAspect="1"/>
          </p:cNvPicPr>
          <p:nvPr/>
        </p:nvPicPr>
        <p:blipFill>
          <a:blip r:embed="rId2"/>
          <a:stretch>
            <a:fillRect/>
          </a:stretch>
        </p:blipFill>
        <p:spPr>
          <a:xfrm>
            <a:off x="670720" y="2732314"/>
            <a:ext cx="4362674" cy="3623141"/>
          </a:xfrm>
          <a:prstGeom prst="rect">
            <a:avLst/>
          </a:prstGeom>
        </p:spPr>
      </p:pic>
      <p:pic>
        <p:nvPicPr>
          <p:cNvPr id="10" name="Picture 9">
            <a:extLst>
              <a:ext uri="{FF2B5EF4-FFF2-40B4-BE49-F238E27FC236}">
                <a16:creationId xmlns:a16="http://schemas.microsoft.com/office/drawing/2014/main" id="{213D6FE7-2673-E32A-61BC-626A155EC37C}"/>
              </a:ext>
            </a:extLst>
          </p:cNvPr>
          <p:cNvPicPr>
            <a:picLocks noChangeAspect="1"/>
          </p:cNvPicPr>
          <p:nvPr/>
        </p:nvPicPr>
        <p:blipFill>
          <a:blip r:embed="rId3"/>
          <a:stretch>
            <a:fillRect/>
          </a:stretch>
        </p:blipFill>
        <p:spPr>
          <a:xfrm>
            <a:off x="221274" y="1435369"/>
            <a:ext cx="11627448" cy="1143059"/>
          </a:xfrm>
          <a:prstGeom prst="rect">
            <a:avLst/>
          </a:prstGeom>
        </p:spPr>
      </p:pic>
      <p:pic>
        <p:nvPicPr>
          <p:cNvPr id="12" name="Picture 11">
            <a:extLst>
              <a:ext uri="{FF2B5EF4-FFF2-40B4-BE49-F238E27FC236}">
                <a16:creationId xmlns:a16="http://schemas.microsoft.com/office/drawing/2014/main" id="{5B28A746-B89D-C472-AA65-49E84E85731C}"/>
              </a:ext>
            </a:extLst>
          </p:cNvPr>
          <p:cNvPicPr>
            <a:picLocks noChangeAspect="1"/>
          </p:cNvPicPr>
          <p:nvPr/>
        </p:nvPicPr>
        <p:blipFill>
          <a:blip r:embed="rId4"/>
          <a:stretch>
            <a:fillRect/>
          </a:stretch>
        </p:blipFill>
        <p:spPr>
          <a:xfrm>
            <a:off x="5397204" y="2732314"/>
            <a:ext cx="6364433" cy="3451344"/>
          </a:xfrm>
          <a:prstGeom prst="rect">
            <a:avLst/>
          </a:prstGeom>
        </p:spPr>
      </p:pic>
    </p:spTree>
    <p:extLst>
      <p:ext uri="{BB962C8B-B14F-4D97-AF65-F5344CB8AC3E}">
        <p14:creationId xmlns:p14="http://schemas.microsoft.com/office/powerpoint/2010/main" val="132164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DB14412-5607-B25B-C240-47E06FE84D11}"/>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
        <p:nvSpPr>
          <p:cNvPr id="2" name="AutoShape 2" descr="AI-based bus management system architecture">
            <a:extLst>
              <a:ext uri="{FF2B5EF4-FFF2-40B4-BE49-F238E27FC236}">
                <a16:creationId xmlns:a16="http://schemas.microsoft.com/office/drawing/2014/main" id="{DD6B54F5-73C6-C549-ECC6-629FFD6A4A7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AI-based bus management system architecture">
            <a:extLst>
              <a:ext uri="{FF2B5EF4-FFF2-40B4-BE49-F238E27FC236}">
                <a16:creationId xmlns:a16="http://schemas.microsoft.com/office/drawing/2014/main" id="{C1D3E4FF-6EE1-3DCD-FD67-BE0CF042C1D0}"/>
              </a:ext>
            </a:extLst>
          </p:cNvPr>
          <p:cNvSpPr>
            <a:spLocks noChangeAspect="1" noChangeArrowheads="1"/>
          </p:cNvSpPr>
          <p:nvPr/>
        </p:nvSpPr>
        <p:spPr bwMode="auto">
          <a:xfrm>
            <a:off x="3570521" y="3428999"/>
            <a:ext cx="2830279" cy="283027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6877A4EF-E7DB-E941-750D-5F423C0AF3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171" y="1480460"/>
            <a:ext cx="10789626" cy="4669962"/>
          </a:xfrm>
          <a:prstGeom prst="rect">
            <a:avLst/>
          </a:prstGeom>
        </p:spPr>
      </p:pic>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F90AB-30D5-B90D-0C52-73BDD93713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F57D02-A242-77D9-77C1-3213B44BF6C6}"/>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latin typeface="Calibri" panose="020F0502020204030204"/>
              </a:rPr>
              <a:t>Project Repository Link</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BBD9281F-D20F-76B6-E516-ADFFF12CB45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4C11847-8A34-3543-9FE9-3EF4675B2082}"/>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
        <p:nvSpPr>
          <p:cNvPr id="6" name="TextBox 5">
            <a:extLst>
              <a:ext uri="{FF2B5EF4-FFF2-40B4-BE49-F238E27FC236}">
                <a16:creationId xmlns:a16="http://schemas.microsoft.com/office/drawing/2014/main" id="{BF521983-683E-549A-CF32-6EB8215A72D4}"/>
              </a:ext>
            </a:extLst>
          </p:cNvPr>
          <p:cNvSpPr txBox="1"/>
          <p:nvPr/>
        </p:nvSpPr>
        <p:spPr>
          <a:xfrm>
            <a:off x="405492" y="2052348"/>
            <a:ext cx="6123214" cy="646331"/>
          </a:xfrm>
          <a:prstGeom prst="rect">
            <a:avLst/>
          </a:prstGeom>
          <a:noFill/>
        </p:spPr>
        <p:txBody>
          <a:bodyPr wrap="square">
            <a:spAutoFit/>
          </a:bodyPr>
          <a:lstStyle/>
          <a:p>
            <a:r>
              <a:rPr lang="en-IN" dirty="0">
                <a:hlinkClick r:id="rId2"/>
              </a:rPr>
              <a:t>https://github.com/sahilmehta0502/voyage</a:t>
            </a:r>
            <a:endParaRPr lang="en-IN" dirty="0"/>
          </a:p>
          <a:p>
            <a:endParaRPr lang="en-IN" dirty="0"/>
          </a:p>
        </p:txBody>
      </p:sp>
    </p:spTree>
    <p:extLst>
      <p:ext uri="{BB962C8B-B14F-4D97-AF65-F5344CB8AC3E}">
        <p14:creationId xmlns:p14="http://schemas.microsoft.com/office/powerpoint/2010/main" val="1792182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872131-A6C0-4ECF-9994-EA002B6EAD86}"/>
              </a:ext>
            </a:extLst>
          </p:cNvPr>
          <p:cNvSpPr>
            <a:spLocks noGrp="1"/>
          </p:cNvSpPr>
          <p:nvPr>
            <p:ph type="body" sz="quarter" idx="13"/>
          </p:nvPr>
        </p:nvSpPr>
        <p:spPr>
          <a:xfrm>
            <a:off x="255995" y="1271219"/>
            <a:ext cx="11718291" cy="5084231"/>
          </a:xfrm>
        </p:spPr>
        <p:txBody>
          <a:bodyPr/>
          <a:lstStyle/>
          <a:p>
            <a:pPr algn="just">
              <a:lnSpc>
                <a:spcPct val="150000"/>
              </a:lnSpc>
              <a:buFont typeface="Wingdings" panose="05000000000000000000" pitchFamily="2" charset="2"/>
              <a:buChar char="Ø"/>
            </a:pPr>
            <a:r>
              <a:rPr lang="en-US" sz="1900" dirty="0">
                <a:latin typeface="+mn-lt"/>
              </a:rPr>
              <a:t>Automated bus scheduling and crew assignment using a data-driven, multi-agent AI approach — 614 trips scheduled across 6 routes with 100% rule compliance.</a:t>
            </a:r>
          </a:p>
          <a:p>
            <a:pPr algn="just">
              <a:lnSpc>
                <a:spcPct val="150000"/>
              </a:lnSpc>
              <a:buFont typeface="Wingdings" panose="05000000000000000000" pitchFamily="2" charset="2"/>
              <a:buChar char="Ø"/>
            </a:pPr>
            <a:r>
              <a:rPr lang="en-US" sz="1900" dirty="0">
                <a:latin typeface="+mn-lt"/>
              </a:rPr>
              <a:t>Achieved 100% crew allocation with optimized resource utilization — distance-tier logic (short/medium/long) and rest-rule enforcement via </a:t>
            </a:r>
            <a:r>
              <a:rPr lang="en-US" sz="1900" dirty="0" err="1">
                <a:latin typeface="+mn-lt"/>
              </a:rPr>
              <a:t>CrewAgent</a:t>
            </a:r>
            <a:r>
              <a:rPr lang="en-US" sz="1900" dirty="0">
                <a:latin typeface="+mn-lt"/>
              </a:rPr>
              <a:t>.</a:t>
            </a:r>
          </a:p>
          <a:p>
            <a:pPr algn="just">
              <a:lnSpc>
                <a:spcPct val="150000"/>
              </a:lnSpc>
              <a:buFont typeface="Wingdings" panose="05000000000000000000" pitchFamily="2" charset="2"/>
              <a:buChar char="Ø"/>
            </a:pPr>
            <a:r>
              <a:rPr lang="en-US" sz="1900" dirty="0">
                <a:latin typeface="+mn-lt"/>
              </a:rPr>
              <a:t>Ensured efficient scheduling with all constraints satisfied — 5-hour gap rule, seat conflict detection, fare computation, and cancellation cascade.</a:t>
            </a:r>
          </a:p>
          <a:p>
            <a:pPr algn="just">
              <a:lnSpc>
                <a:spcPct val="150000"/>
              </a:lnSpc>
              <a:buFont typeface="Wingdings" panose="05000000000000000000" pitchFamily="2" charset="2"/>
              <a:buChar char="Ø"/>
            </a:pPr>
            <a:r>
              <a:rPr lang="en-US" sz="1900" dirty="0">
                <a:latin typeface="+mn-lt"/>
              </a:rPr>
              <a:t>Identified load factor hotspots for improved operational planning — trips exceeding 90% load factor flagged by AnalyticsAgent.</a:t>
            </a:r>
          </a:p>
          <a:p>
            <a:pPr algn="just">
              <a:lnSpc>
                <a:spcPct val="150000"/>
              </a:lnSpc>
              <a:buFont typeface="Wingdings" panose="05000000000000000000" pitchFamily="2" charset="2"/>
              <a:buChar char="Ø"/>
            </a:pPr>
            <a:r>
              <a:rPr lang="en-US" sz="1900" dirty="0">
                <a:latin typeface="+mn-lt"/>
              </a:rPr>
              <a:t>Demonstrated a scalable, practical solution for real-world transport systems — Owner Portal (7 pages) + Passenger Portal (full booking flow) + Excel exports.</a:t>
            </a:r>
          </a:p>
        </p:txBody>
      </p:sp>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CF22012-A681-8CE6-6353-267A875C9200}"/>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6F40-96CC-DEF8-9EB7-14523723777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03C842-0779-BE44-EECA-2F2EE3FA7309}"/>
              </a:ext>
            </a:extLst>
          </p:cNvPr>
          <p:cNvSpPr>
            <a:spLocks noGrp="1"/>
          </p:cNvSpPr>
          <p:nvPr>
            <p:ph type="body" sz="quarter" idx="13"/>
          </p:nvPr>
        </p:nvSpPr>
        <p:spPr>
          <a:xfrm>
            <a:off x="255995" y="1271219"/>
            <a:ext cx="11642091" cy="5084235"/>
          </a:xfrm>
        </p:spPr>
        <p:txBody>
          <a:bodyPr/>
          <a:lstStyle/>
          <a:p>
            <a:pPr algn="just">
              <a:lnSpc>
                <a:spcPct val="150000"/>
              </a:lnSpc>
              <a:buFont typeface="Wingdings" panose="05000000000000000000" pitchFamily="2" charset="2"/>
              <a:buChar char="Ø"/>
            </a:pPr>
            <a:r>
              <a:rPr lang="en-US" sz="1700" dirty="0">
                <a:latin typeface="+mn-lt"/>
              </a:rPr>
              <a:t>Integration with real-time GPS tracking for live bus monitoring — passengers see exact bus location and updated ETA on Leaflet map.</a:t>
            </a:r>
          </a:p>
          <a:p>
            <a:pPr algn="just">
              <a:lnSpc>
                <a:spcPct val="150000"/>
              </a:lnSpc>
              <a:buFont typeface="Wingdings" panose="05000000000000000000" pitchFamily="2" charset="2"/>
              <a:buChar char="Ø"/>
            </a:pPr>
            <a:r>
              <a:rPr lang="en-US" sz="1700" dirty="0">
                <a:latin typeface="+mn-lt"/>
              </a:rPr>
              <a:t>Implementation of AI/ML models for demand prediction and route optimization — dynamic departure frequency based on historical load data.</a:t>
            </a:r>
          </a:p>
          <a:p>
            <a:pPr algn="just">
              <a:lnSpc>
                <a:spcPct val="150000"/>
              </a:lnSpc>
              <a:buFont typeface="Wingdings" panose="05000000000000000000" pitchFamily="2" charset="2"/>
              <a:buChar char="Ø"/>
            </a:pPr>
            <a:r>
              <a:rPr lang="en-US" sz="1700" dirty="0">
                <a:latin typeface="+mn-lt"/>
              </a:rPr>
              <a:t>Development of dynamic scheduling based on real-time traffic conditions — </a:t>
            </a:r>
            <a:r>
              <a:rPr lang="en-US" sz="1700" dirty="0" err="1">
                <a:latin typeface="+mn-lt"/>
              </a:rPr>
              <a:t>RouteAgent</a:t>
            </a:r>
            <a:r>
              <a:rPr lang="en-US" sz="1700" dirty="0">
                <a:latin typeface="+mn-lt"/>
              </a:rPr>
              <a:t> to consume live Google Maps / OSRM data.</a:t>
            </a:r>
          </a:p>
          <a:p>
            <a:pPr algn="just">
              <a:lnSpc>
                <a:spcPct val="150000"/>
              </a:lnSpc>
              <a:buFont typeface="Wingdings" panose="05000000000000000000" pitchFamily="2" charset="2"/>
              <a:buChar char="Ø"/>
            </a:pPr>
            <a:r>
              <a:rPr lang="en-US" sz="1700" dirty="0">
                <a:latin typeface="+mn-lt"/>
              </a:rPr>
              <a:t>Mobile application for passenger and operator interaction — React Native app with push notifications for booking updates.</a:t>
            </a:r>
          </a:p>
          <a:p>
            <a:pPr algn="just">
              <a:lnSpc>
                <a:spcPct val="150000"/>
              </a:lnSpc>
              <a:buFont typeface="Wingdings" panose="05000000000000000000" pitchFamily="2" charset="2"/>
              <a:buChar char="Ø"/>
            </a:pPr>
            <a:r>
              <a:rPr lang="en-US" sz="1700" dirty="0">
                <a:latin typeface="+mn-lt"/>
              </a:rPr>
              <a:t>Cloud deployment (AWS/GCP) for scalable system performance — PostgreSQL on RDS, backend on EC2/Cloud Run, portals on </a:t>
            </a:r>
            <a:r>
              <a:rPr lang="en-US" sz="1700" dirty="0" err="1">
                <a:latin typeface="+mn-lt"/>
              </a:rPr>
              <a:t>Vercel</a:t>
            </a:r>
            <a:r>
              <a:rPr lang="en-US" sz="1700" dirty="0">
                <a:latin typeface="+mn-lt"/>
              </a:rPr>
              <a:t>/</a:t>
            </a:r>
            <a:r>
              <a:rPr lang="en-US" sz="1700" dirty="0" err="1">
                <a:latin typeface="+mn-lt"/>
              </a:rPr>
              <a:t>Cloudfront</a:t>
            </a:r>
            <a:r>
              <a:rPr lang="en-US" sz="1700" dirty="0">
                <a:latin typeface="+mn-lt"/>
              </a:rPr>
              <a:t>.</a:t>
            </a:r>
          </a:p>
          <a:p>
            <a:pPr algn="just">
              <a:lnSpc>
                <a:spcPct val="150000"/>
              </a:lnSpc>
              <a:buFont typeface="Wingdings" panose="05000000000000000000" pitchFamily="2" charset="2"/>
              <a:buChar char="Ø"/>
            </a:pPr>
            <a:r>
              <a:rPr lang="en-US" sz="1700" dirty="0">
                <a:latin typeface="+mn-lt"/>
              </a:rPr>
              <a:t>Continuous improvement using adaptive learning and feedback mechanisms — </a:t>
            </a:r>
            <a:r>
              <a:rPr lang="en-US" sz="1700" dirty="0" err="1">
                <a:latin typeface="+mn-lt"/>
              </a:rPr>
              <a:t>CrewAgent</a:t>
            </a:r>
            <a:r>
              <a:rPr lang="en-US" sz="1700" dirty="0">
                <a:latin typeface="+mn-lt"/>
              </a:rPr>
              <a:t> to learn from historical rest violations.</a:t>
            </a:r>
          </a:p>
        </p:txBody>
      </p:sp>
      <p:sp>
        <p:nvSpPr>
          <p:cNvPr id="3" name="TextBox 2">
            <a:extLst>
              <a:ext uri="{FF2B5EF4-FFF2-40B4-BE49-F238E27FC236}">
                <a16:creationId xmlns:a16="http://schemas.microsoft.com/office/drawing/2014/main" id="{06DDE408-8E1E-6FA2-7CC4-7953936B171B}"/>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Future Scope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1AC8EE7-5ED3-D96C-9268-8B7B9A5D057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627CC8-2051-7B3A-2E08-FBF271F79A94}"/>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157348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6A7A5-8261-E206-94DA-3DC8FB9309E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F191950-B6F9-A5FC-A938-1D294F4E89C0}"/>
              </a:ext>
            </a:extLst>
          </p:cNvPr>
          <p:cNvSpPr>
            <a:spLocks noGrp="1"/>
          </p:cNvSpPr>
          <p:nvPr>
            <p:ph type="body" sz="quarter" idx="13"/>
          </p:nvPr>
        </p:nvSpPr>
        <p:spPr>
          <a:xfrm>
            <a:off x="255995" y="1271219"/>
            <a:ext cx="11751126" cy="5084235"/>
          </a:xfrm>
        </p:spPr>
        <p:txBody>
          <a:bodyPr/>
          <a:lstStyle/>
          <a:p>
            <a:pPr marL="0" indent="0" algn="just">
              <a:lnSpc>
                <a:spcPct val="150000"/>
              </a:lnSpc>
              <a:buNone/>
            </a:pPr>
            <a:r>
              <a:rPr lang="en-US" b="0" dirty="0">
                <a:latin typeface="+mn-lt"/>
              </a:rPr>
              <a:t>I would like to express my sincere gratitude to NMIMS University and the </a:t>
            </a:r>
            <a:r>
              <a:rPr lang="en-US" b="0" dirty="0" err="1">
                <a:latin typeface="+mn-lt"/>
              </a:rPr>
              <a:t>M.Tech</a:t>
            </a:r>
            <a:r>
              <a:rPr lang="en-US" b="0" dirty="0">
                <a:latin typeface="+mn-lt"/>
              </a:rPr>
              <a:t> (Artificial Intelligence) Program for providing me with the opportunity to work on this project. I am deeply thankful to my faculty guide for their continuous guidance, valuable feedback, and support throughout the development of this system. I also extend my appreciation to the industry mentors and peers for their insights, collaboration, and encouragement. Their support and guidance played a crucial role in the successful completion of this project.</a:t>
            </a:r>
            <a:endParaRPr lang="en-US" b="0" dirty="0">
              <a:solidFill>
                <a:srgbClr val="5583D1"/>
              </a:solidFill>
              <a:latin typeface="+mn-lt"/>
            </a:endParaRPr>
          </a:p>
        </p:txBody>
      </p:sp>
      <p:sp>
        <p:nvSpPr>
          <p:cNvPr id="3" name="TextBox 2">
            <a:extLst>
              <a:ext uri="{FF2B5EF4-FFF2-40B4-BE49-F238E27FC236}">
                <a16:creationId xmlns:a16="http://schemas.microsoft.com/office/drawing/2014/main" id="{7942D513-22D7-CEE3-9763-3B2F8C10FE17}"/>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C7E92B55-CDD8-071A-CC14-E1B6AE984E3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087A1C3-36A3-8E47-22FA-B0FFC2914455}"/>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211467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F4487-DE40-FDB2-9257-B27DBE588942}"/>
              </a:ext>
            </a:extLst>
          </p:cNvPr>
          <p:cNvSpPr>
            <a:spLocks noGrp="1"/>
          </p:cNvSpPr>
          <p:nvPr>
            <p:ph type="title"/>
          </p:nvPr>
        </p:nvSpPr>
        <p:spPr>
          <a:xfrm>
            <a:off x="838200" y="2766218"/>
            <a:ext cx="10515600" cy="1325563"/>
          </a:xfrm>
        </p:spPr>
        <p:txBody>
          <a:bodyPr/>
          <a:lstStyle/>
          <a:p>
            <a:pPr algn="ctr"/>
            <a:r>
              <a:rPr lang="en-US">
                <a:solidFill>
                  <a:schemeClr val="accent1"/>
                </a:solidFill>
              </a:rPr>
              <a:t>Thank You</a:t>
            </a:r>
            <a:endParaRPr lang="en-IN">
              <a:solidFill>
                <a:schemeClr val="accent1"/>
              </a:solidFill>
            </a:endParaRPr>
          </a:p>
        </p:txBody>
      </p:sp>
    </p:spTree>
    <p:extLst>
      <p:ext uri="{BB962C8B-B14F-4D97-AF65-F5344CB8AC3E}">
        <p14:creationId xmlns:p14="http://schemas.microsoft.com/office/powerpoint/2010/main" val="1250597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12401</TotalTime>
  <Words>1632</Words>
  <Application>Microsoft Office PowerPoint</Application>
  <PresentationFormat>Widescreen</PresentationFormat>
  <Paragraphs>142</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Calibri (Body)</vt:lpstr>
      <vt:lpstr>Calibri Light</vt:lpstr>
      <vt:lpstr>Frutiger 45 bold</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sahil mehta</cp:lastModifiedBy>
  <cp:revision>216</cp:revision>
  <dcterms:created xsi:type="dcterms:W3CDTF">2024-05-13T10:33:11Z</dcterms:created>
  <dcterms:modified xsi:type="dcterms:W3CDTF">2026-05-08T05:53:22Z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